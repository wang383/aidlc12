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58716"/>
  </p:normalViewPr>
  <p:slideViewPr>
    <p:cSldViewPr snapToGrid="0" snapToObjects="1">
      <p:cViewPr varScale="1">
        <p:scale>
          <a:sx n="173" d="100"/>
          <a:sy n="173" d="100"/>
        </p:scale>
        <p:origin x="4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49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大家好,接下来由我具体介绍用AI-DLC方法论来做具体的工程实施</a:t>
            </a:r>
            <a:r>
              <a:rPr lang="zh-CN" altLang="en-US" dirty="0"/>
              <a:t>。</a:t>
            </a:r>
            <a:endParaRPr lang="en-US" altLang="zh-CN" dirty="0"/>
          </a:p>
          <a:p>
            <a:endParaRPr lang="en-US" dirty="0"/>
          </a:p>
          <a:p>
            <a:r>
              <a:rPr lang="en-US" dirty="0" err="1"/>
              <a:t>我们这个组的所有业务需求可能大相径庭</a:t>
            </a:r>
            <a:r>
              <a:rPr lang="zh-CN" altLang="en-US" dirty="0"/>
              <a:t>，但是有一个共同点，再实施过程中都是要</a:t>
            </a:r>
            <a:r>
              <a:rPr lang="en-US" dirty="0" err="1"/>
              <a:t>我们用</a:t>
            </a:r>
            <a:r>
              <a:rPr lang="en-US" dirty="0"/>
              <a:t> AI </a:t>
            </a:r>
            <a:r>
              <a:rPr lang="en-US" dirty="0" err="1"/>
              <a:t>造了一个工具，而且造这个工具的过程本身，也是用</a:t>
            </a:r>
            <a:r>
              <a:rPr lang="en-US" dirty="0"/>
              <a:t> AI </a:t>
            </a:r>
            <a:r>
              <a:rPr lang="en-US" dirty="0" err="1"/>
              <a:t>工具完成的</a:t>
            </a:r>
            <a:r>
              <a:rPr lang="en-US" dirty="0"/>
              <a:t>。</a:t>
            </a:r>
            <a:r>
              <a:rPr lang="zh-CN" altLang="en-US" dirty="0"/>
              <a:t> 这个</a:t>
            </a:r>
            <a:r>
              <a:rPr lang="en-US" altLang="zh-CN" dirty="0"/>
              <a:t>AI</a:t>
            </a:r>
            <a:r>
              <a:rPr lang="zh-CN" altLang="en-US" dirty="0"/>
              <a:t>工具我选择的是</a:t>
            </a:r>
            <a:r>
              <a:rPr lang="en-US" altLang="zh-CN" dirty="0" err="1"/>
              <a:t>kRIO</a:t>
            </a:r>
            <a:r>
              <a:rPr lang="en-US" altLang="zh-CN" dirty="0"/>
              <a:t> , </a:t>
            </a:r>
            <a:r>
              <a:rPr lang="zh-CN" altLang="en-US" dirty="0"/>
              <a:t>这个成果物就是标准的</a:t>
            </a:r>
            <a:r>
              <a:rPr lang="en-US" altLang="zh-CN" dirty="0"/>
              <a:t>agent skill , </a:t>
            </a:r>
            <a:r>
              <a:rPr lang="zh-CN" altLang="en-US" dirty="0"/>
              <a:t>最终</a:t>
            </a:r>
            <a:r>
              <a:rPr lang="en-US" altLang="zh-CN" dirty="0"/>
              <a:t>skill </a:t>
            </a:r>
            <a:r>
              <a:rPr lang="zh-CN" altLang="en-US" dirty="0"/>
              <a:t>我们可以加载在</a:t>
            </a:r>
            <a:r>
              <a:rPr lang="en-US" altLang="zh-CN" dirty="0" err="1"/>
              <a:t>kiro</a:t>
            </a:r>
            <a:r>
              <a:rPr lang="zh-CN" altLang="en-US" dirty="0"/>
              <a:t>中运行 </a:t>
            </a:r>
            <a:endParaRPr lang="en-US" altLang="zh-CN" dirty="0"/>
          </a:p>
          <a:p>
            <a:endParaRPr lang="en-US" dirty="0"/>
          </a:p>
          <a:p>
            <a:endParaRPr lang="en-US" dirty="0"/>
          </a:p>
          <a:p>
            <a:r>
              <a:rPr lang="zh-CN" altLang="en-US" dirty="0"/>
              <a:t>我们今天会通过</a:t>
            </a:r>
            <a:r>
              <a:rPr lang="en-US" altLang="zh-CN" dirty="0" err="1"/>
              <a:t>kiro</a:t>
            </a:r>
            <a:r>
              <a:rPr lang="en-US" altLang="zh-CN" dirty="0"/>
              <a:t> </a:t>
            </a:r>
            <a:r>
              <a:rPr lang="zh-CN" altLang="en-US" dirty="0"/>
              <a:t>来使用</a:t>
            </a:r>
            <a:r>
              <a:rPr lang="en-US" altLang="zh-CN" dirty="0"/>
              <a:t>ai-</a:t>
            </a:r>
            <a:r>
              <a:rPr lang="en-US" altLang="zh-CN" dirty="0" err="1"/>
              <a:t>dlc</a:t>
            </a:r>
            <a:r>
              <a:rPr lang="en-US" altLang="zh-CN" dirty="0"/>
              <a:t> </a:t>
            </a:r>
            <a:r>
              <a:rPr lang="zh-CN" altLang="en-US" dirty="0"/>
              <a:t>方法论生成</a:t>
            </a:r>
            <a:r>
              <a:rPr lang="en-US" altLang="zh-CN" dirty="0"/>
              <a:t>skill</a:t>
            </a:r>
            <a:r>
              <a:rPr lang="zh-CN" altLang="en-US" dirty="0"/>
              <a:t>。</a:t>
            </a:r>
            <a:r>
              <a:rPr lang="zh-CN" altLang="en-US" sz="1200" b="0" i="0" kern="1200" dirty="0">
                <a:solidFill>
                  <a:schemeClr val="tx1"/>
                </a:solidFill>
                <a:effectLst/>
                <a:latin typeface="+mn-lt"/>
                <a:ea typeface="+mn-ea"/>
                <a:cs typeface="+mn-cs"/>
              </a:rPr>
              <a:t>与传统软件开发不同，</a:t>
            </a:r>
            <a:r>
              <a:rPr lang="en-US" sz="1200" b="0" i="0" kern="1200" dirty="0">
                <a:solidFill>
                  <a:schemeClr val="tx1"/>
                </a:solidFill>
                <a:effectLst/>
                <a:latin typeface="+mn-lt"/>
                <a:ea typeface="+mn-ea"/>
                <a:cs typeface="+mn-cs"/>
              </a:rPr>
              <a:t>AI-DLC </a:t>
            </a:r>
            <a:r>
              <a:rPr lang="zh-CN" altLang="en-US" sz="1200" b="0" i="0" kern="1200" dirty="0">
                <a:solidFill>
                  <a:schemeClr val="tx1"/>
                </a:solidFill>
                <a:effectLst/>
                <a:latin typeface="+mn-lt"/>
                <a:ea typeface="+mn-ea"/>
                <a:cs typeface="+mn-cs"/>
              </a:rPr>
              <a:t>将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置于开发流程核心，在全程人工监督的前提下，覆盖从构思、构建到运营的完整周期，为每个阶段提供切实可行的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应用方案。但是根据我们的需求用原生的方法论，过程冗余，所以</a:t>
            </a:r>
            <a:endParaRPr lang="en-US" altLang="zh-CN" sz="1200" b="0" i="0" kern="1200" dirty="0">
              <a:solidFill>
                <a:schemeClr val="tx1"/>
              </a:solidFill>
              <a:effectLst/>
              <a:latin typeface="+mn-lt"/>
              <a:ea typeface="+mn-ea"/>
              <a:cs typeface="+mn-cs"/>
            </a:endParaRPr>
          </a:p>
          <a:p>
            <a:r>
              <a:rPr lang="en-US" dirty="0" err="1"/>
              <a:t>这次也特别感谢wenju</a:t>
            </a:r>
            <a:r>
              <a:rPr lang="en-US" dirty="0"/>
              <a:t> 博士为这次活动开发出了</a:t>
            </a:r>
            <a:r>
              <a:rPr lang="en-US" altLang="zh-CN" dirty="0"/>
              <a:t>5</a:t>
            </a:r>
            <a:r>
              <a:rPr lang="zh-CN" altLang="en-US" dirty="0"/>
              <a:t>个</a:t>
            </a:r>
            <a:r>
              <a:rPr lang="en-US" altLang="zh-CN" dirty="0"/>
              <a:t>skill </a:t>
            </a:r>
            <a:r>
              <a:rPr lang="zh-CN" altLang="en-US" dirty="0"/>
              <a:t>来完成这次活动</a:t>
            </a:r>
            <a:r>
              <a:rPr lang="en-US" altLang="zh-CN" dirty="0"/>
              <a:t>skill</a:t>
            </a:r>
            <a:r>
              <a:rPr lang="zh-CN" altLang="en-US" dirty="0"/>
              <a:t>的构建。  主要是</a:t>
            </a:r>
            <a:r>
              <a:rPr lang="en-US" altLang="zh-CN" dirty="0"/>
              <a:t>4</a:t>
            </a:r>
            <a:r>
              <a:rPr lang="zh-CN" altLang="en-US" dirty="0"/>
              <a:t>个过程。</a:t>
            </a:r>
            <a:r>
              <a:rPr lang="en-US" altLang="zh-CN" dirty="0" err="1"/>
              <a:t>Deepreaseach</a:t>
            </a:r>
            <a:r>
              <a:rPr lang="en-US" altLang="zh-CN" dirty="0"/>
              <a:t>.  </a:t>
            </a:r>
            <a:r>
              <a:rPr lang="en-US" altLang="zh-CN" dirty="0" err="1"/>
              <a:t>Brainstrom</a:t>
            </a:r>
            <a:r>
              <a:rPr lang="en-US" altLang="zh-CN" dirty="0"/>
              <a:t> ,plan. Execute .</a:t>
            </a:r>
          </a:p>
          <a:p>
            <a:endParaRPr lang="en-US" dirty="0"/>
          </a:p>
          <a:p>
            <a:r>
              <a:rPr lang="en-US" dirty="0" err="1"/>
              <a:t>Deepresaarch</a:t>
            </a:r>
            <a:r>
              <a:rPr lang="en-US" dirty="0"/>
              <a:t> </a:t>
            </a:r>
            <a:r>
              <a:rPr lang="en-US" dirty="0" err="1"/>
              <a:t>所做的事类似BI的角色来进行需求的背景调查行业调研</a:t>
            </a:r>
            <a:r>
              <a:rPr lang="zh-CN" altLang="en-US" dirty="0"/>
              <a:t>，</a:t>
            </a:r>
            <a:r>
              <a:rPr lang="en-US" altLang="zh-CN" dirty="0"/>
              <a:t> </a:t>
            </a:r>
            <a:r>
              <a:rPr lang="zh-CN" altLang="en-US" dirty="0"/>
              <a:t>写调研报告，简单说这个需求完成是否符合目前市场和技术的发展预期</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Brainston</a:t>
            </a:r>
            <a:r>
              <a:rPr lang="en-US" altLang="zh-CN" dirty="0"/>
              <a:t>  </a:t>
            </a:r>
            <a:r>
              <a:rPr lang="zh-CN" altLang="en-US" sz="1200" b="0" kern="1200" dirty="0">
                <a:solidFill>
                  <a:schemeClr val="tx1"/>
                </a:solidFill>
                <a:effectLst/>
                <a:latin typeface="+mn-lt"/>
                <a:ea typeface="+mn-ea"/>
                <a:cs typeface="+mn-cs"/>
              </a:rPr>
              <a:t>有了研究报告，下一步是把它变成一份产品需求文档（</a:t>
            </a:r>
            <a:r>
              <a:rPr lang="en-US" sz="1200" b="0" kern="1200" dirty="0">
                <a:solidFill>
                  <a:schemeClr val="tx1"/>
                </a:solidFill>
                <a:effectLst/>
                <a:latin typeface="+mn-lt"/>
                <a:ea typeface="+mn-ea"/>
                <a:cs typeface="+mn-cs"/>
              </a:rPr>
              <a:t>PRD）</a:t>
            </a:r>
            <a:r>
              <a:rPr lang="zh-CN" altLang="en-US" sz="1200" b="0" kern="1200" dirty="0">
                <a:solidFill>
                  <a:schemeClr val="tx1"/>
                </a:solidFill>
                <a:effectLst/>
                <a:latin typeface="+mn-lt"/>
                <a:ea typeface="+mn-ea"/>
                <a:cs typeface="+mn-cs"/>
              </a:rPr>
              <a:t>，类似产品经理的角色</a:t>
            </a:r>
            <a:r>
              <a:rPr lang="en-US" sz="1200" b="0" kern="1200" dirty="0">
                <a:solidFill>
                  <a:schemeClr val="tx1"/>
                </a:solidFill>
                <a:effectLst/>
                <a:latin typeface="+mn-lt"/>
                <a:ea typeface="+mn-ea"/>
                <a:cs typeface="+mn-cs"/>
              </a:rPr>
              <a:t>。</a:t>
            </a:r>
          </a:p>
          <a:p>
            <a:endParaRPr lang="en-US" altLang="zh-CN" dirty="0"/>
          </a:p>
          <a:p>
            <a:endParaRPr lang="en-US" dirty="0"/>
          </a:p>
          <a:p>
            <a:r>
              <a:rPr lang="en-US" dirty="0" err="1"/>
              <a:t>Paln</a:t>
            </a:r>
            <a:r>
              <a:rPr lang="zh-CN" altLang="en-US" dirty="0"/>
              <a:t>。</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把任务拆清楚</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3 </a:t>
            </a:r>
            <a:r>
              <a:rPr lang="zh-CN" altLang="en-US" sz="1200" b="1" kern="1200" dirty="0">
                <a:solidFill>
                  <a:schemeClr val="tx1"/>
                </a:solidFill>
                <a:effectLst/>
                <a:latin typeface="+mn-lt"/>
                <a:ea typeface="+mn-ea"/>
                <a:cs typeface="+mn-cs"/>
              </a:rPr>
              <a:t>分钟）</a:t>
            </a:r>
            <a:r>
              <a:rPr lang="zh-CN" altLang="en-US" sz="1200" b="0" kern="1200" dirty="0">
                <a:solidFill>
                  <a:schemeClr val="tx1"/>
                </a:solidFill>
                <a:effectLst/>
                <a:latin typeface="+mn-lt"/>
                <a:ea typeface="+mn-ea"/>
                <a:cs typeface="+mn-cs"/>
              </a:rPr>
              <a:t>有了 </a:t>
            </a:r>
            <a:r>
              <a:rPr lang="en-US" sz="1200" b="0" kern="1200" dirty="0">
                <a:solidFill>
                  <a:schemeClr val="tx1"/>
                </a:solidFill>
                <a:effectLst/>
                <a:latin typeface="+mn-lt"/>
                <a:ea typeface="+mn-ea"/>
                <a:cs typeface="+mn-cs"/>
              </a:rPr>
              <a:t>PRD，</a:t>
            </a:r>
            <a:r>
              <a:rPr lang="zh-CN" altLang="en-US" sz="1200" b="0" kern="1200" dirty="0">
                <a:solidFill>
                  <a:schemeClr val="tx1"/>
                </a:solidFill>
                <a:effectLst/>
                <a:latin typeface="+mn-lt"/>
                <a:ea typeface="+mn-ea"/>
                <a:cs typeface="+mn-cs"/>
              </a:rPr>
              <a:t>下一步是把它拆成可以执行的任务。 类似项目经理的角色</a:t>
            </a:r>
          </a:p>
          <a:p>
            <a:endParaRPr lang="en-US" dirty="0"/>
          </a:p>
          <a:p>
            <a:endParaRPr lang="en-US" dirty="0"/>
          </a:p>
          <a:p>
            <a:r>
              <a:rPr lang="en-US" dirty="0" err="1"/>
              <a:t>Execte</a:t>
            </a:r>
            <a:r>
              <a:rPr lang="zh-CN" altLang="en-US" dirty="0"/>
              <a:t> </a:t>
            </a:r>
            <a:r>
              <a:rPr lang="en-US" sz="1200" b="1" kern="1200" dirty="0">
                <a:solidFill>
                  <a:schemeClr val="tx1"/>
                </a:solidFill>
                <a:effectLst/>
                <a:latin typeface="+mn-lt"/>
                <a:ea typeface="+mn-ea"/>
                <a:cs typeface="+mn-cs"/>
              </a:rPr>
              <a:t>execute — "</a:t>
            </a:r>
            <a:r>
              <a:rPr lang="zh-CN" altLang="en-US" sz="1200" b="1" kern="1200" dirty="0">
                <a:solidFill>
                  <a:schemeClr val="tx1"/>
                </a:solidFill>
                <a:effectLst/>
                <a:latin typeface="+mn-lt"/>
                <a:ea typeface="+mn-ea"/>
                <a:cs typeface="+mn-cs"/>
              </a:rPr>
              <a:t>真正动手做</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3 </a:t>
            </a:r>
            <a:r>
              <a:rPr lang="zh-CN" altLang="en-US" sz="1200" b="1" kern="1200" dirty="0">
                <a:solidFill>
                  <a:schemeClr val="tx1"/>
                </a:solidFill>
                <a:effectLst/>
                <a:latin typeface="+mn-lt"/>
                <a:ea typeface="+mn-ea"/>
                <a:cs typeface="+mn-cs"/>
              </a:rPr>
              <a:t>分钟）</a:t>
            </a:r>
            <a:r>
              <a:rPr lang="en-US" sz="1200" b="0" kern="1200" dirty="0">
                <a:solidFill>
                  <a:schemeClr val="tx1"/>
                </a:solidFill>
                <a:effectLst/>
                <a:latin typeface="+mn-lt"/>
                <a:ea typeface="+mn-ea"/>
                <a:cs typeface="+mn-cs"/>
              </a:rPr>
              <a:t>execute </a:t>
            </a:r>
            <a:r>
              <a:rPr lang="zh-CN" altLang="en-US" sz="1200" b="0" kern="1200" dirty="0">
                <a:solidFill>
                  <a:schemeClr val="tx1"/>
                </a:solidFill>
                <a:effectLst/>
                <a:latin typeface="+mn-lt"/>
                <a:ea typeface="+mn-ea"/>
                <a:cs typeface="+mn-cs"/>
              </a:rPr>
              <a:t>是真正写代码的阶段。但 </a:t>
            </a:r>
            <a:r>
              <a:rPr lang="en-US" sz="1200" b="0" kern="1200" dirty="0">
                <a:solidFill>
                  <a:schemeClr val="tx1"/>
                </a:solidFill>
                <a:effectLst/>
                <a:latin typeface="+mn-lt"/>
                <a:ea typeface="+mn-ea"/>
                <a:cs typeface="+mn-cs"/>
              </a:rPr>
              <a:t>execute </a:t>
            </a:r>
            <a:r>
              <a:rPr lang="zh-CN" altLang="en-US" sz="1200" b="0" kern="1200" dirty="0">
                <a:solidFill>
                  <a:schemeClr val="tx1"/>
                </a:solidFill>
                <a:effectLst/>
                <a:latin typeface="+mn-lt"/>
                <a:ea typeface="+mn-ea"/>
                <a:cs typeface="+mn-cs"/>
              </a:rPr>
              <a:t>本身不写代码。它是一个**调度员**，把任务分配给专门的子 </a:t>
            </a:r>
            <a:r>
              <a:rPr lang="en-US" sz="1200" b="0" kern="1200" dirty="0">
                <a:solidFill>
                  <a:schemeClr val="tx1"/>
                </a:solidFill>
                <a:effectLst/>
                <a:latin typeface="+mn-lt"/>
                <a:ea typeface="+mn-ea"/>
                <a:cs typeface="+mn-cs"/>
              </a:rPr>
              <a:t>Agent </a:t>
            </a:r>
            <a:r>
              <a:rPr lang="zh-CN" altLang="en-US" sz="1200" b="0" kern="1200" dirty="0">
                <a:solidFill>
                  <a:schemeClr val="tx1"/>
                </a:solidFill>
                <a:effectLst/>
                <a:latin typeface="+mn-lt"/>
                <a:ea typeface="+mn-ea"/>
                <a:cs typeface="+mn-cs"/>
              </a:rPr>
              <a:t>去执行。</a:t>
            </a:r>
          </a:p>
          <a:p>
            <a:endParaRPr lang="en-US" dirty="0"/>
          </a:p>
          <a:p>
            <a:endParaRPr lang="en-US" dirty="0"/>
          </a:p>
          <a:p>
            <a:endParaRPr lang="en-US" dirty="0"/>
          </a:p>
          <a:p>
            <a:endParaRPr lang="en-US" dirty="0"/>
          </a:p>
          <a:p>
            <a:endParaRPr lang="en-US" dirty="0"/>
          </a:p>
          <a:p>
            <a:r>
              <a:rPr lang="en-US" sz="1200" b="1" i="0" kern="1200" dirty="0">
                <a:solidFill>
                  <a:schemeClr val="tx1"/>
                </a:solidFill>
                <a:effectLst/>
                <a:latin typeface="+mn-lt"/>
                <a:ea typeface="+mn-ea"/>
                <a:cs typeface="+mn-cs"/>
              </a:rPr>
              <a:t>AI-DLC </a:t>
            </a:r>
            <a:r>
              <a:rPr lang="zh-CN" altLang="en-US" sz="1200" b="1" i="0" kern="1200" dirty="0">
                <a:solidFill>
                  <a:schemeClr val="tx1"/>
                </a:solidFill>
                <a:effectLst/>
                <a:latin typeface="+mn-lt"/>
                <a:ea typeface="+mn-ea"/>
                <a:cs typeface="+mn-cs"/>
              </a:rPr>
              <a:t>定义：</a:t>
            </a:r>
            <a:r>
              <a:rPr lang="zh-CN" altLang="en-US" sz="1200" b="0" i="0" kern="1200" dirty="0">
                <a:solidFill>
                  <a:schemeClr val="tx1"/>
                </a:solidFill>
                <a:effectLst/>
                <a:latin typeface="+mn-lt"/>
                <a:ea typeface="+mn-ea"/>
                <a:cs typeface="+mn-cs"/>
              </a:rPr>
              <a:t> 亚马逊云科技推出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驱动开发方法论 </a:t>
            </a:r>
            <a:r>
              <a:rPr lang="en-US" sz="1200" b="0" i="0" kern="1200" dirty="0">
                <a:solidFill>
                  <a:schemeClr val="tx1"/>
                </a:solidFill>
                <a:effectLst/>
                <a:latin typeface="+mn-lt"/>
                <a:ea typeface="+mn-ea"/>
                <a:cs typeface="+mn-cs"/>
              </a:rPr>
              <a:t>AI-DLC (AI-Driven Development Lifecycle)。</a:t>
            </a:r>
            <a:r>
              <a:rPr lang="zh-CN" altLang="en-US" sz="1200" b="0" i="0" kern="1200" dirty="0">
                <a:solidFill>
                  <a:schemeClr val="tx1"/>
                </a:solidFill>
                <a:effectLst/>
                <a:latin typeface="+mn-lt"/>
                <a:ea typeface="+mn-ea"/>
                <a:cs typeface="+mn-cs"/>
              </a:rPr>
              <a:t>与传统软件开发不同，</a:t>
            </a:r>
            <a:r>
              <a:rPr lang="en-US" sz="1200" b="0" i="0" kern="1200" dirty="0">
                <a:solidFill>
                  <a:schemeClr val="tx1"/>
                </a:solidFill>
                <a:effectLst/>
                <a:latin typeface="+mn-lt"/>
                <a:ea typeface="+mn-ea"/>
                <a:cs typeface="+mn-cs"/>
              </a:rPr>
              <a:t>AI-DLC </a:t>
            </a:r>
            <a:r>
              <a:rPr lang="zh-CN" altLang="en-US" sz="1200" b="0" i="0" kern="1200" dirty="0">
                <a:solidFill>
                  <a:schemeClr val="tx1"/>
                </a:solidFill>
                <a:effectLst/>
                <a:latin typeface="+mn-lt"/>
                <a:ea typeface="+mn-ea"/>
                <a:cs typeface="+mn-cs"/>
              </a:rPr>
              <a:t>将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置于开发流程核心，在全程人工监督的前提下，覆盖从构思、构建到运营的完整周期，为每个阶段提供切实可行的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应用方案。</a:t>
            </a:r>
          </a:p>
          <a:p>
            <a:r>
              <a:rPr lang="zh-CN" altLang="en-US" sz="1200" b="1" i="0" kern="1200" dirty="0">
                <a:solidFill>
                  <a:schemeClr val="tx1"/>
                </a:solidFill>
                <a:effectLst/>
                <a:latin typeface="+mn-lt"/>
                <a:ea typeface="+mn-ea"/>
                <a:cs typeface="+mn-cs"/>
              </a:rPr>
              <a:t>核心特点：</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AI-DLC </a:t>
            </a:r>
            <a:r>
              <a:rPr lang="zh-CN" altLang="en-US" sz="1200" b="0" i="0" kern="1200" dirty="0">
                <a:solidFill>
                  <a:schemeClr val="tx1"/>
                </a:solidFill>
                <a:effectLst/>
                <a:latin typeface="+mn-lt"/>
                <a:ea typeface="+mn-ea"/>
                <a:cs typeface="+mn-cs"/>
              </a:rPr>
              <a:t>引入了一个根本性转变，即由 </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发起并引导与人类的对话，而非被动响应人类的指令。从而高效地完成生产级的开发任务，帮助这一方法论，开发团队专注战略决策、</a:t>
            </a:r>
            <a:r>
              <a:rPr lang="en-US"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负责工作流编排、任务分解、代码编写、测试与部署等具体实施工作。</a:t>
            </a:r>
          </a:p>
          <a:p>
            <a:r>
              <a:rPr lang="en-US" dirty="0"/>
              <a:t>
</a:t>
            </a:r>
            <a:r>
              <a:rPr lang="en-US" dirty="0" err="1"/>
              <a:t>我们用</a:t>
            </a:r>
            <a:r>
              <a:rPr lang="en-US" dirty="0"/>
              <a:t> AI 造了一个工具，而且造这个工具的过程本身，也是用 AI 完成的。
这听起来有点绕，但我保证，听完之后你会觉得这是一件非常自然的事。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我们面对的问题是这样的：PM 写完需求文档，想让研发和设计师快速理解，但光靠文字很难对齐。画原型要找设计师，让研发临时搭页面又占资源。有没有一种方式，让 PM 自己就能在 5 分钟内拿到一个可以点击的界面？
</a:t>
            </a:r>
            <a:r>
              <a:rPr lang="en-US" dirty="0" err="1"/>
              <a:t>答案是有的。我们做了一个</a:t>
            </a:r>
            <a:r>
              <a:rPr lang="en-US" dirty="0"/>
              <a:t> agent </a:t>
            </a:r>
            <a:r>
              <a:rPr lang="en-US" dirty="0" err="1"/>
              <a:t>Skill。你把需求描述给它，它直接生成一个</a:t>
            </a:r>
            <a:r>
              <a:rPr lang="en-US" dirty="0"/>
              <a:t> HTML 文件，双击打开就能演示。
但今天我不只是想展示这个工具本身，我更想展示的是我们是怎么做出这个工具的。因为这套方法论，可以用来做任何工具。</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让我先给大家看一下方法论的全景图。从模糊想法到可重复使用的专家系统，4 步完成。
第一步，deepresearch，先把功课做足。5到8个AI Agent并行调研，交叉验证，输出带置信度的研究报告。
第二步，brainstorm，把想法变成决策。一次一个问题追问，5个问题5个决策，
第三步，plan，把任务拆清楚。生成DAG任务依赖图，哪些并行，哪些串行。这是可选步骤，复杂时使用。
第四步，execute，真正动手做。调度员分配子Agent，并行执行无依赖任务，失败重试加Oracle汇总。
每一步之后都有验证测试，用真实需求检验每一步的产出。</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我们做任何事情之前，都需要先搞清楚背景。
传统的做法是：一个人去查资料，写调研报告，花几天时间。
Kiro 的 deepresearch Skill 做的事情是：同时派出 5 到 8 个 AI Agent，每个人负责一个角度，并行去查。
就像你有一个 8 人的调研团队，每个人分工不同——有人查技术方案，有人查竞品，有人查用户需求，有人查行业报告——然后同时出发，同时回来汇报。
但光收集信息还不够。deepresearch 还会做两件事：
第一，交叉验证。8 个 Agent 查回来的结论，会互相比对。如果 6 个人都说"市面上没有工具支持 Element UI"，这个结论就是可信的。如果只有 1 个人说，那就标记为"待验证"。
第二，Socratic 审查。有一个专门的 Oracle Agent，会像苏格拉底一样，对所有结论提出质疑："你凭什么这么说？有没有反例？这个假设成立吗？"
最终输出一份研究报告，每个结论都有置信度标注。</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我们这次的发现是：v0.dev、Galileo AI、Locofy 这些 AI 工具，全部不支持 Element UI。这是一个明确的市场空白。
这个结论，是 7 个 Agent 并行研究、交叉验证之后得出的，不是我们拍脑袋想的。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有了研究报告，下一步是把它变成一份产品需求文档（PRD）。
但这里有一个问题：研究报告告诉你"能做什么"，但不告诉你"应该做什么"。这中间有很多产品决策需要人来做。
brainstorm Skill 做的事情，就是通过追问，帮你把这些决策一个一个明确下来。
它的工作方式很特别：一次只问一个问题，等你回答了再问下一个。
为什么这样设计？因为如果一次问 10 个问题，你往往只回答最后一个，前面的都被忽略了。一次一个，强迫你认真思考每一个决策。</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我们被问了 5 个问题：
第一个问题：主要用户是谁？选项是 PM、设计师、研发，或者三者同等重要。我们选了 PM。——这个决策决定了整个 Skill 的设计方向。
第二个问题：成功标准是什么？是时间指标（5 分钟出 DEMO）、可用率指标，还是采用率指标？我们选了时间指标。——这个决策决定了我们不能追求完美，要追求快。
第三个问题：第一版支持哪种页面？是 CRUD 列表页、表单页、工作台，还是全部都支持？我们选了 CRUD 列表页。——这个决策决定了 v1 的范围，避免了贪多嚼不烂。
第四个问题：需求描述不清楚时怎么办？是主动追问，还是智能补全？我们选了主动追问。——这个决策决定了 Skill 的交互方式。
第五个问题：生成的 DEMO 要有多复杂的交互？是纯静态展示、UI 层交互，还是模拟完整的增删改查？我们选了 UI 层交互。——这个决策划定了技术边界。
5 个问题，5 个决策。每一个都有明确的选择，每一个都有理由。
brainstorm 最后还做了一件事：Oracle 对抗审查。它会扮演一个挑剔的审查者，专门找 PRD 里的漏洞。比如它发现我们没有定义"新增和编辑是共用一个弹窗还是两个"，于是又追问了一次。
最终输出一份 PRD，里面的每一条需求都能追溯到你的某个回答或者研究报告里的某个结论。没有任何 AI 自己发明的需求。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有了 PRD，下一步是把它拆成可以执行的任务。
这一步是可选的。如果任务很简单，可以直接跳过，让 AI 直接写代码。
但如果任务复杂——比如要同时改数据库、改 API、改前端——就需要 plan 来帮你理清楚：哪些任务可以同时做，哪些必须等前面的完成才能开始。
plan 的核心产出是一个 DAG，也就是有向无环图。听起来很技术，但其实就是一张任务依赖关系图：
任务 A 和任务 B 没有依赖关系，可以同时做。任务 C 依赖任务 A，必须等 A 完成才能开始。任务 D 依赖 B 和 C，必须等两个都完成才能开始。
这张图决定了 execute 阶段的执行顺序和并行策略。
我们这次跳过了 plan，因为只需要创建 4 个文件，依赖关系很简单，不需要专门拆解。</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 是真正写代码的阶段。
但 execute 本身不写代码。它是一个调度员，把任务分配给专门的子 Agent 去执行。
它的工作方式是：把同一批没有依赖关系的任务，在同一时刻全部发出去，让多个 Agent 并行工作。等这批完成了，再发下一批。
这就像工地上的施工队长：地基、水电、外墙可以同时施工，但内装修必须等主体结构完成。队长不自己搬砖，但他知道谁该先干、谁可以同时干。
execute 还有一个重要机制：失败重试一次。如果某个 Agent 执行失败，会自动重试一次，把失败的原因也告诉它，让它修正。如果重试还是失败，才上报给用户。
最后，execute 会做一次 Oracle 汇总审查，确认所有任务都完成了，质量达标，然后写回最终状态。</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我们这次的产出是 4 个文件：
第一个，SKILL.md：Skill 的主指令文件，定义 AI 如何工作。
第二个，component-mapping.md：字段类型到 Element UI 组件的映射规则。
第三个，element-ui-api-cheatsheet.md：API 速查手册，防止 AI 用错版本。
第四个，demo-examples.md：两个完整的 PRD→HTML 示例，作为生成参考。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做好了，要用真实需求测试。
我们测了三种情况：
第一种：信息完整的需求。输入："做一个商品管理列表，字段包括商品名称、分类、价格、库存、状态，支持新增、编辑、删除。"结果：Skill 直接生成，没有追问，30 秒内出了 HTML 文件。
第二种：信息不完整的需求。输入："帮我生成一个员工管理页面。"结果：Skill 识别到缺少字段信息，主动追问："需要展示哪些字段？"我们回答后，它又问："支持哪些操作？"两轮追问后生成。
第三种：只需要查询和删除的需求。输入："生成 DEMO：订单列表，只需要查询和删除。"结果：Skill 正确识别到不需要新增和编辑，生成的 HTML 里没有新增按钮，没有弹窗，操作列只有删除。
三个测试全部通过。Skill 的行为符合 PRD 里定义的所有需求。</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让我用一句话总结这套方法论：
deepresearch 帮你搞清楚背景，brainstorm 帮你做清楚决策，plan 帮你排清楚顺序，execute 帮你做出来。
这套流程最重要的价值不是"AI 帮你写代码"，而是：
每一个产品决策都有明确的来源。为什么选 CRUD 列表页作为 v1？因为你在 brainstorm 里选了 A。为什么成功标准是 5 分钟？因为你在 brainstorm 里选了 A。没有任何决策是 AI 自己发明的。
这意味着，当你把这个 Skill 交给团队使用，当有人问"为什么这样设计"，你有完整的答案。
而且，这套方法论不只适用于做 Skill。它适用于任何你想用 AI 来构建的东西——功能、工具、系统。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这套流程最重要的价值不是"AI 帮你写代码"，而是：每一个产品决策都有明确的来源。
这不是让 AI 帮你写一次代码。这是让 AI 帮你构建一个可以重复使用的专家系统。下次 PM 有新需求，不需要再解释任何背景，直接描述需求就能拿到 DEMO。
从一个模糊的想法，到一个可以重复使用的专家系统，今天我们走完了这整条路。
谢谢大家。</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914400"/>
            <a:ext cx="7680960" cy="731520"/>
          </a:xfrm>
          <a:prstGeom prst="rect">
            <a:avLst/>
          </a:prstGeom>
          <a:noFill/>
          <a:ln/>
        </p:spPr>
        <p:txBody>
          <a:bodyPr wrap="square" rtlCol="0" anchor="ctr"/>
          <a:lstStyle/>
          <a:p>
            <a:pPr marL="0" indent="0" algn="l">
              <a:buNone/>
            </a:pPr>
            <a:r>
              <a:rPr lang="en-US" sz="3600" dirty="0" err="1">
                <a:solidFill>
                  <a:srgbClr val="FFFFFF"/>
                </a:solidFill>
                <a:latin typeface="Microsoft YaHei" pitchFamily="34" charset="0"/>
                <a:ea typeface="Microsoft YaHei" pitchFamily="34" charset="-122"/>
                <a:cs typeface="Microsoft YaHei" pitchFamily="34" charset="-120"/>
              </a:rPr>
              <a:t>用</a:t>
            </a:r>
            <a:r>
              <a:rPr lang="en-US" sz="3600" dirty="0">
                <a:solidFill>
                  <a:srgbClr val="FFFFFF"/>
                </a:solidFill>
                <a:latin typeface="Microsoft YaHei" pitchFamily="34" charset="0"/>
                <a:ea typeface="Microsoft YaHei" pitchFamily="34" charset="-122"/>
                <a:cs typeface="Microsoft YaHei" pitchFamily="34" charset="-120"/>
              </a:rPr>
              <a:t> AI-</a:t>
            </a:r>
            <a:r>
              <a:rPr lang="en-US" sz="3600" dirty="0" err="1">
                <a:solidFill>
                  <a:srgbClr val="FFFFFF"/>
                </a:solidFill>
                <a:latin typeface="Microsoft YaHei" pitchFamily="34" charset="0"/>
                <a:ea typeface="Microsoft YaHei" pitchFamily="34" charset="-122"/>
                <a:cs typeface="Microsoft YaHei" pitchFamily="34" charset="-120"/>
              </a:rPr>
              <a:t>DLC方法论</a:t>
            </a:r>
            <a:endParaRPr lang="en-US" sz="3600" dirty="0"/>
          </a:p>
        </p:txBody>
      </p:sp>
      <p:sp>
        <p:nvSpPr>
          <p:cNvPr id="4" name="Text 2"/>
          <p:cNvSpPr/>
          <p:nvPr/>
        </p:nvSpPr>
        <p:spPr>
          <a:xfrm>
            <a:off x="731520" y="1554480"/>
            <a:ext cx="7680960" cy="640080"/>
          </a:xfrm>
          <a:prstGeom prst="rect">
            <a:avLst/>
          </a:prstGeom>
          <a:noFill/>
          <a:ln/>
        </p:spPr>
        <p:txBody>
          <a:bodyPr wrap="square" rtlCol="0" anchor="ctr"/>
          <a:lstStyle/>
          <a:p>
            <a:pPr marL="0" indent="0" algn="l">
              <a:buNone/>
            </a:pPr>
            <a:r>
              <a:rPr lang="en-US" sz="3200" dirty="0">
                <a:solidFill>
                  <a:srgbClr val="FF9900"/>
                </a:solidFill>
                <a:latin typeface="Microsoft YaHei" pitchFamily="34" charset="0"/>
                <a:ea typeface="Microsoft YaHei" pitchFamily="34" charset="-122"/>
                <a:cs typeface="Microsoft YaHei" pitchFamily="34" charset="-120"/>
              </a:rPr>
              <a:t>让 AI 帮你造工具</a:t>
            </a:r>
            <a:endParaRPr lang="en-US" sz="3200" dirty="0"/>
          </a:p>
        </p:txBody>
      </p:sp>
      <p:sp>
        <p:nvSpPr>
          <p:cNvPr id="5" name="Text 3"/>
          <p:cNvSpPr/>
          <p:nvPr/>
        </p:nvSpPr>
        <p:spPr>
          <a:xfrm>
            <a:off x="731520" y="2286000"/>
            <a:ext cx="7680960" cy="457200"/>
          </a:xfrm>
          <a:prstGeom prst="rect">
            <a:avLst/>
          </a:prstGeom>
          <a:noFill/>
          <a:ln/>
        </p:spPr>
        <p:txBody>
          <a:bodyPr wrap="square" rtlCol="0" anchor="ctr"/>
          <a:lstStyle/>
          <a:p>
            <a:pPr marL="0" indent="0" algn="l">
              <a:buNone/>
            </a:pPr>
            <a:r>
              <a:rPr lang="en-US" sz="1600" dirty="0">
                <a:solidFill>
                  <a:srgbClr val="8899AA"/>
                </a:solidFill>
                <a:latin typeface="Microsoft YaHei" pitchFamily="34" charset="0"/>
                <a:ea typeface="Microsoft YaHei" pitchFamily="34" charset="-122"/>
                <a:cs typeface="Microsoft YaHei" pitchFamily="34" charset="-120"/>
              </a:rPr>
              <a:t>从模糊想法到可重复使用的专家系统</a:t>
            </a:r>
            <a:endParaRPr lang="en-US" sz="1600" dirty="0"/>
          </a:p>
        </p:txBody>
      </p:sp>
      <p:sp>
        <p:nvSpPr>
          <p:cNvPr id="6" name="Shape 4"/>
          <p:cNvSpPr/>
          <p:nvPr/>
        </p:nvSpPr>
        <p:spPr>
          <a:xfrm>
            <a:off x="1371600" y="3291840"/>
            <a:ext cx="365760" cy="365760"/>
          </a:xfrm>
          <a:prstGeom prst="ellipse">
            <a:avLst/>
          </a:prstGeom>
          <a:solidFill>
            <a:srgbClr val="00A4B4"/>
          </a:solidFill>
          <a:ln/>
        </p:spPr>
        <p:txBody>
          <a:bodyPr/>
          <a:lstStyle/>
          <a:p>
            <a:endParaRPr lang="en-CN"/>
          </a:p>
        </p:txBody>
      </p:sp>
      <p:sp>
        <p:nvSpPr>
          <p:cNvPr id="7" name="Text 5"/>
          <p:cNvSpPr/>
          <p:nvPr/>
        </p:nvSpPr>
        <p:spPr>
          <a:xfrm>
            <a:off x="1371600" y="3291840"/>
            <a:ext cx="365760" cy="365760"/>
          </a:xfrm>
          <a:prstGeom prst="rect">
            <a:avLst/>
          </a:prstGeom>
          <a:noFill/>
          <a:ln/>
        </p:spPr>
        <p:txBody>
          <a:bodyPr wrap="square"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8" name="Text 6"/>
          <p:cNvSpPr/>
          <p:nvPr/>
        </p:nvSpPr>
        <p:spPr>
          <a:xfrm>
            <a:off x="731520" y="3749040"/>
            <a:ext cx="1828800" cy="320040"/>
          </a:xfrm>
          <a:prstGeom prst="rect">
            <a:avLst/>
          </a:prstGeom>
          <a:noFill/>
          <a:ln/>
        </p:spPr>
        <p:txBody>
          <a:bodyPr wrap="square" rtlCol="0" anchor="ctr"/>
          <a:lstStyle/>
          <a:p>
            <a:pPr marL="0" indent="0" algn="ctr">
              <a:buNone/>
            </a:pPr>
            <a:r>
              <a:rPr lang="en-US" sz="1300" dirty="0">
                <a:solidFill>
                  <a:srgbClr val="FFFFFF"/>
                </a:solidFill>
                <a:latin typeface="Microsoft YaHei" pitchFamily="34" charset="0"/>
                <a:ea typeface="Microsoft YaHei" pitchFamily="34" charset="-122"/>
                <a:cs typeface="Microsoft YaHei" pitchFamily="34" charset="-120"/>
              </a:rPr>
              <a:t>deepresearch</a:t>
            </a:r>
            <a:endParaRPr lang="en-US" sz="1300" dirty="0"/>
          </a:p>
        </p:txBody>
      </p:sp>
      <p:sp>
        <p:nvSpPr>
          <p:cNvPr id="9" name="Text 7"/>
          <p:cNvSpPr/>
          <p:nvPr/>
        </p:nvSpPr>
        <p:spPr>
          <a:xfrm>
            <a:off x="731520" y="4023360"/>
            <a:ext cx="1828800" cy="274320"/>
          </a:xfrm>
          <a:prstGeom prst="rect">
            <a:avLst/>
          </a:prstGeom>
          <a:noFill/>
          <a:ln/>
        </p:spPr>
        <p:txBody>
          <a:bodyPr wrap="square" rtlCol="0" anchor="ctr"/>
          <a:lstStyle/>
          <a:p>
            <a:pPr marL="0" indent="0" algn="ctr">
              <a:buNone/>
            </a:pPr>
            <a:r>
              <a:rPr lang="en-US" sz="1100" dirty="0">
                <a:solidFill>
                  <a:srgbClr val="8899AA"/>
                </a:solidFill>
                <a:latin typeface="Microsoft YaHei" pitchFamily="34" charset="0"/>
                <a:ea typeface="Microsoft YaHei" pitchFamily="34" charset="-122"/>
                <a:cs typeface="Microsoft YaHei" pitchFamily="34" charset="-120"/>
              </a:rPr>
              <a:t>搞清背景</a:t>
            </a:r>
            <a:endParaRPr lang="en-US" sz="1100" dirty="0"/>
          </a:p>
        </p:txBody>
      </p:sp>
      <p:sp>
        <p:nvSpPr>
          <p:cNvPr id="10" name="Text 8"/>
          <p:cNvSpPr/>
          <p:nvPr/>
        </p:nvSpPr>
        <p:spPr>
          <a:xfrm>
            <a:off x="2560320" y="3291840"/>
            <a:ext cx="274320" cy="365760"/>
          </a:xfrm>
          <a:prstGeom prst="rect">
            <a:avLst/>
          </a:prstGeom>
          <a:noFill/>
          <a:ln/>
        </p:spPr>
        <p:txBody>
          <a:bodyPr wrap="square" rtlCol="0" anchor="ctr"/>
          <a:lstStyle/>
          <a:p>
            <a:pPr marL="0" indent="0" algn="ctr">
              <a:buNone/>
            </a:pPr>
            <a:r>
              <a:rPr lang="en-US" sz="1800" dirty="0">
                <a:solidFill>
                  <a:srgbClr val="555555"/>
                </a:solidFill>
                <a:latin typeface="Microsoft YaHei" pitchFamily="34" charset="0"/>
                <a:ea typeface="Microsoft YaHei" pitchFamily="34" charset="-122"/>
                <a:cs typeface="Microsoft YaHei" pitchFamily="34" charset="-120"/>
              </a:rPr>
              <a:t>→</a:t>
            </a:r>
            <a:endParaRPr lang="en-US" sz="1800" dirty="0"/>
          </a:p>
        </p:txBody>
      </p:sp>
      <p:sp>
        <p:nvSpPr>
          <p:cNvPr id="11" name="Shape 9"/>
          <p:cNvSpPr/>
          <p:nvPr/>
        </p:nvSpPr>
        <p:spPr>
          <a:xfrm>
            <a:off x="3474720" y="3291840"/>
            <a:ext cx="365760" cy="365760"/>
          </a:xfrm>
          <a:prstGeom prst="ellipse">
            <a:avLst/>
          </a:prstGeom>
          <a:solidFill>
            <a:srgbClr val="FF9900"/>
          </a:solidFill>
          <a:ln/>
        </p:spPr>
        <p:txBody>
          <a:bodyPr/>
          <a:lstStyle/>
          <a:p>
            <a:endParaRPr lang="en-CN"/>
          </a:p>
        </p:txBody>
      </p:sp>
      <p:sp>
        <p:nvSpPr>
          <p:cNvPr id="12" name="Text 10"/>
          <p:cNvSpPr/>
          <p:nvPr/>
        </p:nvSpPr>
        <p:spPr>
          <a:xfrm>
            <a:off x="3474720" y="3291840"/>
            <a:ext cx="365760" cy="365760"/>
          </a:xfrm>
          <a:prstGeom prst="rect">
            <a:avLst/>
          </a:prstGeom>
          <a:noFill/>
          <a:ln/>
        </p:spPr>
        <p:txBody>
          <a:bodyPr wrap="square"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13" name="Text 11"/>
          <p:cNvSpPr/>
          <p:nvPr/>
        </p:nvSpPr>
        <p:spPr>
          <a:xfrm>
            <a:off x="2834640" y="3749040"/>
            <a:ext cx="1828800" cy="320040"/>
          </a:xfrm>
          <a:prstGeom prst="rect">
            <a:avLst/>
          </a:prstGeom>
          <a:noFill/>
          <a:ln/>
        </p:spPr>
        <p:txBody>
          <a:bodyPr wrap="square" rtlCol="0" anchor="ctr"/>
          <a:lstStyle/>
          <a:p>
            <a:pPr marL="0" indent="0" algn="ctr">
              <a:buNone/>
            </a:pPr>
            <a:r>
              <a:rPr lang="en-US" sz="1300" dirty="0">
                <a:solidFill>
                  <a:srgbClr val="FFFFFF"/>
                </a:solidFill>
                <a:latin typeface="Microsoft YaHei" pitchFamily="34" charset="0"/>
                <a:ea typeface="Microsoft YaHei" pitchFamily="34" charset="-122"/>
                <a:cs typeface="Microsoft YaHei" pitchFamily="34" charset="-120"/>
              </a:rPr>
              <a:t>brainstorm</a:t>
            </a:r>
            <a:endParaRPr lang="en-US" sz="1300" dirty="0"/>
          </a:p>
        </p:txBody>
      </p:sp>
      <p:sp>
        <p:nvSpPr>
          <p:cNvPr id="14" name="Text 12"/>
          <p:cNvSpPr/>
          <p:nvPr/>
        </p:nvSpPr>
        <p:spPr>
          <a:xfrm>
            <a:off x="2834640" y="4023360"/>
            <a:ext cx="1828800" cy="274320"/>
          </a:xfrm>
          <a:prstGeom prst="rect">
            <a:avLst/>
          </a:prstGeom>
          <a:noFill/>
          <a:ln/>
        </p:spPr>
        <p:txBody>
          <a:bodyPr wrap="square" rtlCol="0" anchor="ctr"/>
          <a:lstStyle/>
          <a:p>
            <a:pPr marL="0" indent="0" algn="ctr">
              <a:buNone/>
            </a:pPr>
            <a:r>
              <a:rPr lang="en-US" sz="1100" dirty="0">
                <a:solidFill>
                  <a:srgbClr val="8899AA"/>
                </a:solidFill>
                <a:latin typeface="Microsoft YaHei" pitchFamily="34" charset="0"/>
                <a:ea typeface="Microsoft YaHei" pitchFamily="34" charset="-122"/>
                <a:cs typeface="Microsoft YaHei" pitchFamily="34" charset="-120"/>
              </a:rPr>
              <a:t>做清决策</a:t>
            </a:r>
            <a:endParaRPr lang="en-US" sz="1100" dirty="0"/>
          </a:p>
        </p:txBody>
      </p:sp>
      <p:sp>
        <p:nvSpPr>
          <p:cNvPr id="15" name="Text 13"/>
          <p:cNvSpPr/>
          <p:nvPr/>
        </p:nvSpPr>
        <p:spPr>
          <a:xfrm>
            <a:off x="4663440" y="3291840"/>
            <a:ext cx="274320" cy="365760"/>
          </a:xfrm>
          <a:prstGeom prst="rect">
            <a:avLst/>
          </a:prstGeom>
          <a:noFill/>
          <a:ln/>
        </p:spPr>
        <p:txBody>
          <a:bodyPr wrap="square" rtlCol="0" anchor="ctr"/>
          <a:lstStyle/>
          <a:p>
            <a:pPr marL="0" indent="0" algn="ctr">
              <a:buNone/>
            </a:pPr>
            <a:r>
              <a:rPr lang="en-US" sz="1800" dirty="0">
                <a:solidFill>
                  <a:srgbClr val="555555"/>
                </a:solidFill>
                <a:latin typeface="Microsoft YaHei" pitchFamily="34" charset="0"/>
                <a:ea typeface="Microsoft YaHei" pitchFamily="34" charset="-122"/>
                <a:cs typeface="Microsoft YaHei" pitchFamily="34" charset="-120"/>
              </a:rPr>
              <a:t>→</a:t>
            </a:r>
            <a:endParaRPr lang="en-US" sz="1800" dirty="0"/>
          </a:p>
        </p:txBody>
      </p:sp>
      <p:sp>
        <p:nvSpPr>
          <p:cNvPr id="16" name="Shape 14"/>
          <p:cNvSpPr/>
          <p:nvPr/>
        </p:nvSpPr>
        <p:spPr>
          <a:xfrm>
            <a:off x="5577840" y="3291840"/>
            <a:ext cx="365760" cy="365760"/>
          </a:xfrm>
          <a:prstGeom prst="ellipse">
            <a:avLst/>
          </a:prstGeom>
          <a:solidFill>
            <a:srgbClr val="1A73E8"/>
          </a:solidFill>
          <a:ln/>
        </p:spPr>
        <p:txBody>
          <a:bodyPr/>
          <a:lstStyle/>
          <a:p>
            <a:endParaRPr lang="en-CN"/>
          </a:p>
        </p:txBody>
      </p:sp>
      <p:sp>
        <p:nvSpPr>
          <p:cNvPr id="17" name="Text 15"/>
          <p:cNvSpPr/>
          <p:nvPr/>
        </p:nvSpPr>
        <p:spPr>
          <a:xfrm>
            <a:off x="5577840" y="3291840"/>
            <a:ext cx="365760" cy="365760"/>
          </a:xfrm>
          <a:prstGeom prst="rect">
            <a:avLst/>
          </a:prstGeom>
          <a:noFill/>
          <a:ln/>
        </p:spPr>
        <p:txBody>
          <a:bodyPr wrap="square"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18" name="Text 16"/>
          <p:cNvSpPr/>
          <p:nvPr/>
        </p:nvSpPr>
        <p:spPr>
          <a:xfrm>
            <a:off x="4937760" y="3749040"/>
            <a:ext cx="1828800" cy="320040"/>
          </a:xfrm>
          <a:prstGeom prst="rect">
            <a:avLst/>
          </a:prstGeom>
          <a:noFill/>
          <a:ln/>
        </p:spPr>
        <p:txBody>
          <a:bodyPr wrap="square" rtlCol="0" anchor="ctr"/>
          <a:lstStyle/>
          <a:p>
            <a:pPr marL="0" indent="0" algn="ctr">
              <a:buNone/>
            </a:pPr>
            <a:r>
              <a:rPr lang="en-US" sz="1300" dirty="0">
                <a:solidFill>
                  <a:srgbClr val="FFFFFF"/>
                </a:solidFill>
                <a:latin typeface="Microsoft YaHei" pitchFamily="34" charset="0"/>
                <a:ea typeface="Microsoft YaHei" pitchFamily="34" charset="-122"/>
                <a:cs typeface="Microsoft YaHei" pitchFamily="34" charset="-120"/>
              </a:rPr>
              <a:t>plan</a:t>
            </a:r>
            <a:endParaRPr lang="en-US" sz="1300" dirty="0"/>
          </a:p>
        </p:txBody>
      </p:sp>
      <p:sp>
        <p:nvSpPr>
          <p:cNvPr id="19" name="Text 17"/>
          <p:cNvSpPr/>
          <p:nvPr/>
        </p:nvSpPr>
        <p:spPr>
          <a:xfrm>
            <a:off x="4937760" y="4023360"/>
            <a:ext cx="1828800" cy="274320"/>
          </a:xfrm>
          <a:prstGeom prst="rect">
            <a:avLst/>
          </a:prstGeom>
          <a:noFill/>
          <a:ln/>
        </p:spPr>
        <p:txBody>
          <a:bodyPr wrap="square" rtlCol="0" anchor="ctr"/>
          <a:lstStyle/>
          <a:p>
            <a:pPr marL="0" indent="0" algn="ctr">
              <a:buNone/>
            </a:pPr>
            <a:r>
              <a:rPr lang="en-US" sz="1100" dirty="0">
                <a:solidFill>
                  <a:srgbClr val="8899AA"/>
                </a:solidFill>
                <a:latin typeface="Microsoft YaHei" pitchFamily="34" charset="0"/>
                <a:ea typeface="Microsoft YaHei" pitchFamily="34" charset="-122"/>
                <a:cs typeface="Microsoft YaHei" pitchFamily="34" charset="-120"/>
              </a:rPr>
              <a:t>排清顺序</a:t>
            </a:r>
            <a:endParaRPr lang="en-US" sz="1100" dirty="0"/>
          </a:p>
        </p:txBody>
      </p:sp>
      <p:sp>
        <p:nvSpPr>
          <p:cNvPr id="20" name="Text 18"/>
          <p:cNvSpPr/>
          <p:nvPr/>
        </p:nvSpPr>
        <p:spPr>
          <a:xfrm>
            <a:off x="6766560" y="3291840"/>
            <a:ext cx="274320" cy="365760"/>
          </a:xfrm>
          <a:prstGeom prst="rect">
            <a:avLst/>
          </a:prstGeom>
          <a:noFill/>
          <a:ln/>
        </p:spPr>
        <p:txBody>
          <a:bodyPr wrap="square" rtlCol="0" anchor="ctr"/>
          <a:lstStyle/>
          <a:p>
            <a:pPr marL="0" indent="0" algn="ctr">
              <a:buNone/>
            </a:pPr>
            <a:r>
              <a:rPr lang="en-US" sz="1800" dirty="0">
                <a:solidFill>
                  <a:srgbClr val="555555"/>
                </a:solidFill>
                <a:latin typeface="Microsoft YaHei" pitchFamily="34" charset="0"/>
                <a:ea typeface="Microsoft YaHei" pitchFamily="34" charset="-122"/>
                <a:cs typeface="Microsoft YaHei" pitchFamily="34" charset="-120"/>
              </a:rPr>
              <a:t>→</a:t>
            </a:r>
            <a:endParaRPr lang="en-US" sz="1800" dirty="0"/>
          </a:p>
        </p:txBody>
      </p:sp>
      <p:sp>
        <p:nvSpPr>
          <p:cNvPr id="21" name="Shape 19"/>
          <p:cNvSpPr/>
          <p:nvPr/>
        </p:nvSpPr>
        <p:spPr>
          <a:xfrm>
            <a:off x="7680960" y="3291840"/>
            <a:ext cx="365760" cy="365760"/>
          </a:xfrm>
          <a:prstGeom prst="ellipse">
            <a:avLst/>
          </a:prstGeom>
          <a:solidFill>
            <a:srgbClr val="34A853"/>
          </a:solidFill>
          <a:ln/>
        </p:spPr>
        <p:txBody>
          <a:bodyPr/>
          <a:lstStyle/>
          <a:p>
            <a:endParaRPr lang="en-CN"/>
          </a:p>
        </p:txBody>
      </p:sp>
      <p:sp>
        <p:nvSpPr>
          <p:cNvPr id="22" name="Text 20"/>
          <p:cNvSpPr/>
          <p:nvPr/>
        </p:nvSpPr>
        <p:spPr>
          <a:xfrm>
            <a:off x="7680960" y="3291840"/>
            <a:ext cx="365760" cy="365760"/>
          </a:xfrm>
          <a:prstGeom prst="rect">
            <a:avLst/>
          </a:prstGeom>
          <a:noFill/>
          <a:ln/>
        </p:spPr>
        <p:txBody>
          <a:bodyPr wrap="square"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23" name="Text 21"/>
          <p:cNvSpPr/>
          <p:nvPr/>
        </p:nvSpPr>
        <p:spPr>
          <a:xfrm>
            <a:off x="7040880" y="3749040"/>
            <a:ext cx="1828800" cy="320040"/>
          </a:xfrm>
          <a:prstGeom prst="rect">
            <a:avLst/>
          </a:prstGeom>
          <a:noFill/>
          <a:ln/>
        </p:spPr>
        <p:txBody>
          <a:bodyPr wrap="square" rtlCol="0" anchor="ctr"/>
          <a:lstStyle/>
          <a:p>
            <a:pPr marL="0" indent="0" algn="ctr">
              <a:buNone/>
            </a:pPr>
            <a:r>
              <a:rPr lang="en-US" sz="1300" dirty="0">
                <a:solidFill>
                  <a:srgbClr val="FFFFFF"/>
                </a:solidFill>
                <a:latin typeface="Microsoft YaHei" pitchFamily="34" charset="0"/>
                <a:ea typeface="Microsoft YaHei" pitchFamily="34" charset="-122"/>
                <a:cs typeface="Microsoft YaHei" pitchFamily="34" charset="-120"/>
              </a:rPr>
              <a:t>execute</a:t>
            </a:r>
            <a:endParaRPr lang="en-US" sz="1300" dirty="0"/>
          </a:p>
        </p:txBody>
      </p:sp>
      <p:sp>
        <p:nvSpPr>
          <p:cNvPr id="24" name="Text 22"/>
          <p:cNvSpPr/>
          <p:nvPr/>
        </p:nvSpPr>
        <p:spPr>
          <a:xfrm>
            <a:off x="7040880" y="4023360"/>
            <a:ext cx="1828800" cy="274320"/>
          </a:xfrm>
          <a:prstGeom prst="rect">
            <a:avLst/>
          </a:prstGeom>
          <a:noFill/>
          <a:ln/>
        </p:spPr>
        <p:txBody>
          <a:bodyPr wrap="square" rtlCol="0" anchor="ctr"/>
          <a:lstStyle/>
          <a:p>
            <a:pPr marL="0" indent="0" algn="ctr">
              <a:buNone/>
            </a:pPr>
            <a:r>
              <a:rPr lang="en-US" sz="1100" dirty="0">
                <a:solidFill>
                  <a:srgbClr val="8899AA"/>
                </a:solidFill>
                <a:latin typeface="Microsoft YaHei" pitchFamily="34" charset="0"/>
                <a:ea typeface="Microsoft YaHei" pitchFamily="34" charset="-122"/>
                <a:cs typeface="Microsoft YaHei" pitchFamily="34" charset="-120"/>
              </a:rPr>
              <a:t>做出来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274320"/>
            <a:ext cx="7680960" cy="548640"/>
          </a:xfrm>
          <a:prstGeom prst="rect">
            <a:avLst/>
          </a:prstGeom>
          <a:noFill/>
          <a:ln/>
        </p:spPr>
        <p:txBody>
          <a:bodyPr wrap="square" rtlCol="0" anchor="ctr"/>
          <a:lstStyle/>
          <a:p>
            <a:pPr marL="0" indent="0" algn="l">
              <a:buNone/>
            </a:pPr>
            <a:r>
              <a:rPr lang="en-US" sz="2800" dirty="0" err="1">
                <a:solidFill>
                  <a:srgbClr val="232F3E"/>
                </a:solidFill>
                <a:latin typeface="Microsoft YaHei" pitchFamily="34" charset="0"/>
                <a:ea typeface="Microsoft YaHei" pitchFamily="34" charset="-122"/>
              </a:rPr>
              <a:t>案例</a:t>
            </a:r>
            <a:endParaRPr lang="en-US" sz="2800" dirty="0"/>
          </a:p>
        </p:txBody>
      </p:sp>
      <p:sp>
        <p:nvSpPr>
          <p:cNvPr id="4" name="Shape 2"/>
          <p:cNvSpPr/>
          <p:nvPr/>
        </p:nvSpPr>
        <p:spPr>
          <a:xfrm>
            <a:off x="731520" y="1097280"/>
            <a:ext cx="2377440" cy="1828800"/>
          </a:xfrm>
          <a:prstGeom prst="roundRect">
            <a:avLst>
              <a:gd name="adj" fmla="val 5000"/>
            </a:avLst>
          </a:prstGeom>
          <a:solidFill>
            <a:srgbClr val="FFF5F5"/>
          </a:solidFill>
          <a:ln w="12700">
            <a:solidFill>
              <a:srgbClr val="FFD5D5"/>
            </a:solidFill>
            <a:prstDash val="solid"/>
          </a:ln>
        </p:spPr>
        <p:txBody>
          <a:bodyPr/>
          <a:lstStyle/>
          <a:p>
            <a:endParaRPr lang="en-CN"/>
          </a:p>
        </p:txBody>
      </p:sp>
      <p:sp>
        <p:nvSpPr>
          <p:cNvPr id="5" name="Text 3"/>
          <p:cNvSpPr/>
          <p:nvPr/>
        </p:nvSpPr>
        <p:spPr>
          <a:xfrm>
            <a:off x="731520" y="1234440"/>
            <a:ext cx="2377440" cy="411480"/>
          </a:xfrm>
          <a:prstGeom prst="rect">
            <a:avLst/>
          </a:prstGeom>
          <a:noFill/>
          <a:ln/>
        </p:spPr>
        <p:txBody>
          <a:bodyPr wrap="square" rtlCol="0" anchor="ctr"/>
          <a:lstStyle/>
          <a:p>
            <a:pPr marL="0" indent="0" algn="ctr">
              <a:buNone/>
            </a:pPr>
            <a:r>
              <a:rPr lang="en-US" sz="2400" dirty="0">
                <a:solidFill>
                  <a:srgbClr val="000000"/>
                </a:solidFill>
                <a:latin typeface="Microsoft YaHei" pitchFamily="34" charset="0"/>
                <a:ea typeface="Microsoft YaHei" pitchFamily="34" charset="-122"/>
                <a:cs typeface="Microsoft YaHei" pitchFamily="34" charset="-120"/>
              </a:rPr>
              <a:t>📄</a:t>
            </a:r>
            <a:endParaRPr lang="en-US" sz="2400" dirty="0"/>
          </a:p>
        </p:txBody>
      </p:sp>
      <p:sp>
        <p:nvSpPr>
          <p:cNvPr id="6" name="Text 4"/>
          <p:cNvSpPr/>
          <p:nvPr/>
        </p:nvSpPr>
        <p:spPr>
          <a:xfrm>
            <a:off x="868680" y="1645920"/>
            <a:ext cx="2103120" cy="320040"/>
          </a:xfrm>
          <a:prstGeom prst="rect">
            <a:avLst/>
          </a:prstGeom>
          <a:noFill/>
          <a:ln/>
        </p:spPr>
        <p:txBody>
          <a:bodyPr wrap="square" rtlCol="0" anchor="ctr"/>
          <a:lstStyle/>
          <a:p>
            <a:pPr marL="0" indent="0" algn="ctr">
              <a:buNone/>
            </a:pPr>
            <a:r>
              <a:rPr lang="en-US" sz="1400" b="1" dirty="0">
                <a:solidFill>
                  <a:srgbClr val="CC3333"/>
                </a:solidFill>
                <a:latin typeface="Microsoft YaHei" pitchFamily="34" charset="0"/>
                <a:ea typeface="Microsoft YaHei" pitchFamily="34" charset="-122"/>
                <a:cs typeface="Microsoft YaHei" pitchFamily="34" charset="-120"/>
              </a:rPr>
              <a:t>文档难对齐</a:t>
            </a:r>
            <a:endParaRPr lang="en-US" sz="1400" dirty="0"/>
          </a:p>
        </p:txBody>
      </p:sp>
      <p:sp>
        <p:nvSpPr>
          <p:cNvPr id="7" name="Text 5"/>
          <p:cNvSpPr/>
          <p:nvPr/>
        </p:nvSpPr>
        <p:spPr>
          <a:xfrm>
            <a:off x="868680" y="1965960"/>
            <a:ext cx="2103120" cy="822960"/>
          </a:xfrm>
          <a:prstGeom prst="rect">
            <a:avLst/>
          </a:prstGeom>
          <a:noFill/>
          <a:ln/>
        </p:spPr>
        <p:txBody>
          <a:bodyPr wrap="square" rtlCol="0" anchor="t"/>
          <a:lstStyle/>
          <a:p>
            <a:pPr marL="0" indent="0" algn="ctr">
              <a:buNone/>
            </a:pPr>
            <a:r>
              <a:rPr lang="en-US" sz="1000" dirty="0">
                <a:solidFill>
                  <a:srgbClr val="444444"/>
                </a:solidFill>
                <a:latin typeface="Microsoft YaHei" pitchFamily="34" charset="0"/>
                <a:ea typeface="Microsoft YaHei" pitchFamily="34" charset="-122"/>
                <a:cs typeface="Microsoft YaHei" pitchFamily="34" charset="-120"/>
              </a:rPr>
              <a:t>PM 写完需求文档，想让研发和设计师快速理解，但光靠文字很难对齐</a:t>
            </a:r>
            <a:endParaRPr lang="en-US" sz="1000" dirty="0"/>
          </a:p>
        </p:txBody>
      </p:sp>
      <p:sp>
        <p:nvSpPr>
          <p:cNvPr id="8" name="Shape 6"/>
          <p:cNvSpPr/>
          <p:nvPr/>
        </p:nvSpPr>
        <p:spPr>
          <a:xfrm>
            <a:off x="3383280" y="1097280"/>
            <a:ext cx="2377440" cy="1828800"/>
          </a:xfrm>
          <a:prstGeom prst="roundRect">
            <a:avLst>
              <a:gd name="adj" fmla="val 5000"/>
            </a:avLst>
          </a:prstGeom>
          <a:solidFill>
            <a:srgbClr val="FFF5F5"/>
          </a:solidFill>
          <a:ln w="12700">
            <a:solidFill>
              <a:srgbClr val="FFD5D5"/>
            </a:solidFill>
            <a:prstDash val="solid"/>
          </a:ln>
        </p:spPr>
        <p:txBody>
          <a:bodyPr/>
          <a:lstStyle/>
          <a:p>
            <a:endParaRPr lang="en-CN"/>
          </a:p>
        </p:txBody>
      </p:sp>
      <p:sp>
        <p:nvSpPr>
          <p:cNvPr id="9" name="Text 7"/>
          <p:cNvSpPr/>
          <p:nvPr/>
        </p:nvSpPr>
        <p:spPr>
          <a:xfrm>
            <a:off x="3383280" y="1234440"/>
            <a:ext cx="2377440" cy="411480"/>
          </a:xfrm>
          <a:prstGeom prst="rect">
            <a:avLst/>
          </a:prstGeom>
          <a:noFill/>
          <a:ln/>
        </p:spPr>
        <p:txBody>
          <a:bodyPr wrap="square" rtlCol="0" anchor="ctr"/>
          <a:lstStyle/>
          <a:p>
            <a:pPr marL="0" indent="0" algn="ctr">
              <a:buNone/>
            </a:pPr>
            <a:r>
              <a:rPr lang="en-US" sz="2400" dirty="0">
                <a:solidFill>
                  <a:srgbClr val="000000"/>
                </a:solidFill>
                <a:latin typeface="Microsoft YaHei" pitchFamily="34" charset="0"/>
                <a:ea typeface="Microsoft YaHei" pitchFamily="34" charset="-122"/>
                <a:cs typeface="Microsoft YaHei" pitchFamily="34" charset="-120"/>
              </a:rPr>
              <a:t>🎨</a:t>
            </a:r>
            <a:endParaRPr lang="en-US" sz="2400" dirty="0"/>
          </a:p>
        </p:txBody>
      </p:sp>
      <p:sp>
        <p:nvSpPr>
          <p:cNvPr id="10" name="Text 8"/>
          <p:cNvSpPr/>
          <p:nvPr/>
        </p:nvSpPr>
        <p:spPr>
          <a:xfrm>
            <a:off x="3520440" y="1645920"/>
            <a:ext cx="2103120" cy="320040"/>
          </a:xfrm>
          <a:prstGeom prst="rect">
            <a:avLst/>
          </a:prstGeom>
          <a:noFill/>
          <a:ln/>
        </p:spPr>
        <p:txBody>
          <a:bodyPr wrap="square" rtlCol="0" anchor="ctr"/>
          <a:lstStyle/>
          <a:p>
            <a:pPr marL="0" indent="0" algn="ctr">
              <a:buNone/>
            </a:pPr>
            <a:r>
              <a:rPr lang="en-US" sz="1400" b="1" dirty="0">
                <a:solidFill>
                  <a:srgbClr val="CC3333"/>
                </a:solidFill>
                <a:latin typeface="Microsoft YaHei" pitchFamily="34" charset="0"/>
                <a:ea typeface="Microsoft YaHei" pitchFamily="34" charset="-122"/>
                <a:cs typeface="Microsoft YaHei" pitchFamily="34" charset="-120"/>
              </a:rPr>
              <a:t>画原型占资源</a:t>
            </a:r>
            <a:endParaRPr lang="en-US" sz="1400" dirty="0"/>
          </a:p>
        </p:txBody>
      </p:sp>
      <p:sp>
        <p:nvSpPr>
          <p:cNvPr id="11" name="Text 9"/>
          <p:cNvSpPr/>
          <p:nvPr/>
        </p:nvSpPr>
        <p:spPr>
          <a:xfrm>
            <a:off x="3520440" y="1965960"/>
            <a:ext cx="2103120" cy="822960"/>
          </a:xfrm>
          <a:prstGeom prst="rect">
            <a:avLst/>
          </a:prstGeom>
          <a:noFill/>
          <a:ln/>
        </p:spPr>
        <p:txBody>
          <a:bodyPr wrap="square" rtlCol="0" anchor="t"/>
          <a:lstStyle/>
          <a:p>
            <a:pPr marL="0" indent="0" algn="ctr">
              <a:buNone/>
            </a:pPr>
            <a:r>
              <a:rPr lang="en-US" sz="1000" dirty="0">
                <a:solidFill>
                  <a:srgbClr val="444444"/>
                </a:solidFill>
                <a:latin typeface="Microsoft YaHei" pitchFamily="34" charset="0"/>
                <a:ea typeface="Microsoft YaHei" pitchFamily="34" charset="-122"/>
                <a:cs typeface="Microsoft YaHei" pitchFamily="34" charset="-120"/>
              </a:rPr>
              <a:t>画原型要找设计师，让研发临时搭页面又占开发资源</a:t>
            </a:r>
            <a:endParaRPr lang="en-US" sz="1000" dirty="0"/>
          </a:p>
        </p:txBody>
      </p:sp>
      <p:sp>
        <p:nvSpPr>
          <p:cNvPr id="12" name="Shape 10"/>
          <p:cNvSpPr/>
          <p:nvPr/>
        </p:nvSpPr>
        <p:spPr>
          <a:xfrm>
            <a:off x="6035040" y="1097280"/>
            <a:ext cx="2377440" cy="1828800"/>
          </a:xfrm>
          <a:prstGeom prst="roundRect">
            <a:avLst>
              <a:gd name="adj" fmla="val 5000"/>
            </a:avLst>
          </a:prstGeom>
          <a:solidFill>
            <a:srgbClr val="FFF5F5"/>
          </a:solidFill>
          <a:ln w="12700">
            <a:solidFill>
              <a:srgbClr val="FFD5D5"/>
            </a:solidFill>
            <a:prstDash val="solid"/>
          </a:ln>
        </p:spPr>
        <p:txBody>
          <a:bodyPr/>
          <a:lstStyle/>
          <a:p>
            <a:endParaRPr lang="en-CN"/>
          </a:p>
        </p:txBody>
      </p:sp>
      <p:sp>
        <p:nvSpPr>
          <p:cNvPr id="13" name="Text 11"/>
          <p:cNvSpPr/>
          <p:nvPr/>
        </p:nvSpPr>
        <p:spPr>
          <a:xfrm>
            <a:off x="6035040" y="1234440"/>
            <a:ext cx="2377440" cy="411480"/>
          </a:xfrm>
          <a:prstGeom prst="rect">
            <a:avLst/>
          </a:prstGeom>
          <a:noFill/>
          <a:ln/>
        </p:spPr>
        <p:txBody>
          <a:bodyPr wrap="square" rtlCol="0" anchor="ctr"/>
          <a:lstStyle/>
          <a:p>
            <a:pPr marL="0" indent="0" algn="ctr">
              <a:buNone/>
            </a:pPr>
            <a:r>
              <a:rPr lang="en-US" sz="2400" dirty="0">
                <a:solidFill>
                  <a:srgbClr val="000000"/>
                </a:solidFill>
                <a:latin typeface="Microsoft YaHei" pitchFamily="34" charset="0"/>
                <a:ea typeface="Microsoft YaHei" pitchFamily="34" charset="-122"/>
                <a:cs typeface="Microsoft YaHei" pitchFamily="34" charset="-120"/>
              </a:rPr>
              <a:t>⏰</a:t>
            </a:r>
            <a:endParaRPr lang="en-US" sz="2400" dirty="0"/>
          </a:p>
        </p:txBody>
      </p:sp>
      <p:sp>
        <p:nvSpPr>
          <p:cNvPr id="14" name="Text 12"/>
          <p:cNvSpPr/>
          <p:nvPr/>
        </p:nvSpPr>
        <p:spPr>
          <a:xfrm>
            <a:off x="6172200" y="1645920"/>
            <a:ext cx="2103120" cy="320040"/>
          </a:xfrm>
          <a:prstGeom prst="rect">
            <a:avLst/>
          </a:prstGeom>
          <a:noFill/>
          <a:ln/>
        </p:spPr>
        <p:txBody>
          <a:bodyPr wrap="square" rtlCol="0" anchor="ctr"/>
          <a:lstStyle/>
          <a:p>
            <a:pPr marL="0" indent="0" algn="ctr">
              <a:buNone/>
            </a:pPr>
            <a:r>
              <a:rPr lang="en-US" sz="1400" b="1" dirty="0">
                <a:solidFill>
                  <a:srgbClr val="CC3333"/>
                </a:solidFill>
                <a:latin typeface="Microsoft YaHei" pitchFamily="34" charset="0"/>
                <a:ea typeface="Microsoft YaHei" pitchFamily="34" charset="-122"/>
                <a:cs typeface="Microsoft YaHei" pitchFamily="34" charset="-120"/>
              </a:rPr>
              <a:t>效率低下</a:t>
            </a:r>
            <a:endParaRPr lang="en-US" sz="1400" dirty="0"/>
          </a:p>
        </p:txBody>
      </p:sp>
      <p:sp>
        <p:nvSpPr>
          <p:cNvPr id="15" name="Text 13"/>
          <p:cNvSpPr/>
          <p:nvPr/>
        </p:nvSpPr>
        <p:spPr>
          <a:xfrm>
            <a:off x="6172200" y="1965960"/>
            <a:ext cx="2103120" cy="822960"/>
          </a:xfrm>
          <a:prstGeom prst="rect">
            <a:avLst/>
          </a:prstGeom>
          <a:noFill/>
          <a:ln/>
        </p:spPr>
        <p:txBody>
          <a:bodyPr wrap="square" rtlCol="0" anchor="t"/>
          <a:lstStyle/>
          <a:p>
            <a:pPr marL="0" indent="0" algn="ctr">
              <a:buNone/>
            </a:pPr>
            <a:r>
              <a:rPr lang="en-US" sz="1000" dirty="0">
                <a:solidFill>
                  <a:srgbClr val="444444"/>
                </a:solidFill>
                <a:latin typeface="Microsoft YaHei" pitchFamily="34" charset="0"/>
                <a:ea typeface="Microsoft YaHei" pitchFamily="34" charset="-122"/>
                <a:cs typeface="Microsoft YaHei" pitchFamily="34" charset="-120"/>
              </a:rPr>
              <a:t>有没有一种方式，让 PM 自己就能在 5 分钟内拿到一个可以点击的界面？</a:t>
            </a:r>
            <a:endParaRPr lang="en-US" sz="1000" dirty="0"/>
          </a:p>
        </p:txBody>
      </p:sp>
      <p:sp>
        <p:nvSpPr>
          <p:cNvPr id="16" name="Shape 14"/>
          <p:cNvSpPr/>
          <p:nvPr/>
        </p:nvSpPr>
        <p:spPr>
          <a:xfrm>
            <a:off x="731520" y="2994660"/>
            <a:ext cx="7680960" cy="2034540"/>
          </a:xfrm>
          <a:prstGeom prst="roundRect">
            <a:avLst>
              <a:gd name="adj" fmla="val 6250"/>
            </a:avLst>
          </a:prstGeom>
          <a:solidFill>
            <a:srgbClr val="F0FFF0"/>
          </a:solidFill>
          <a:ln w="12700">
            <a:solidFill>
              <a:srgbClr val="90EE90"/>
            </a:solidFill>
            <a:prstDash val="solid"/>
          </a:ln>
        </p:spPr>
        <p:txBody>
          <a:bodyPr/>
          <a:lstStyle/>
          <a:p>
            <a:endParaRPr lang="en-CN"/>
          </a:p>
        </p:txBody>
      </p:sp>
      <p:sp>
        <p:nvSpPr>
          <p:cNvPr id="17" name="Text 15"/>
          <p:cNvSpPr/>
          <p:nvPr/>
        </p:nvSpPr>
        <p:spPr>
          <a:xfrm>
            <a:off x="731520" y="3040381"/>
            <a:ext cx="914400" cy="457200"/>
          </a:xfrm>
          <a:prstGeom prst="rect">
            <a:avLst/>
          </a:prstGeom>
          <a:noFill/>
          <a:ln/>
        </p:spPr>
        <p:txBody>
          <a:bodyPr wrap="square" rtlCol="0" anchor="ctr"/>
          <a:lstStyle/>
          <a:p>
            <a:pPr marL="0" indent="0" algn="ctr">
              <a:buNone/>
            </a:pPr>
            <a:r>
              <a:rPr lang="en-US" sz="2200" dirty="0">
                <a:solidFill>
                  <a:srgbClr val="000000"/>
                </a:solidFill>
                <a:latin typeface="Microsoft YaHei" pitchFamily="34" charset="0"/>
                <a:ea typeface="Microsoft YaHei" pitchFamily="34" charset="-122"/>
                <a:cs typeface="Microsoft YaHei" pitchFamily="34" charset="-120"/>
              </a:rPr>
              <a:t>💡</a:t>
            </a:r>
            <a:endParaRPr lang="en-US" sz="2200" dirty="0"/>
          </a:p>
        </p:txBody>
      </p:sp>
      <p:sp>
        <p:nvSpPr>
          <p:cNvPr id="18" name="Text 16"/>
          <p:cNvSpPr/>
          <p:nvPr/>
        </p:nvSpPr>
        <p:spPr>
          <a:xfrm>
            <a:off x="1463040" y="3086101"/>
            <a:ext cx="6400800" cy="365760"/>
          </a:xfrm>
          <a:prstGeom prst="rect">
            <a:avLst/>
          </a:prstGeom>
          <a:noFill/>
          <a:ln/>
        </p:spPr>
        <p:txBody>
          <a:bodyPr wrap="square" rtlCol="0" anchor="ctr"/>
          <a:lstStyle/>
          <a:p>
            <a:pPr marL="0" indent="0" algn="l">
              <a:buNone/>
            </a:pPr>
            <a:r>
              <a:rPr lang="en-US" sz="1600" b="1" dirty="0" err="1">
                <a:solidFill>
                  <a:srgbClr val="228B22"/>
                </a:solidFill>
                <a:latin typeface="Microsoft YaHei" pitchFamily="34" charset="0"/>
                <a:ea typeface="Microsoft YaHei" pitchFamily="34" charset="-122"/>
                <a:cs typeface="Microsoft YaHei" pitchFamily="34" charset="-120"/>
              </a:rPr>
              <a:t>解决方案：Agent</a:t>
            </a:r>
            <a:r>
              <a:rPr lang="en-US" sz="1600" b="1" dirty="0">
                <a:solidFill>
                  <a:srgbClr val="228B22"/>
                </a:solidFill>
                <a:latin typeface="Microsoft YaHei" pitchFamily="34" charset="0"/>
                <a:ea typeface="Microsoft YaHei" pitchFamily="34" charset="-122"/>
                <a:cs typeface="Microsoft YaHei" pitchFamily="34" charset="-120"/>
              </a:rPr>
              <a:t> Skill</a:t>
            </a:r>
            <a:endParaRPr lang="en-US" sz="1600" dirty="0"/>
          </a:p>
        </p:txBody>
      </p:sp>
      <p:sp>
        <p:nvSpPr>
          <p:cNvPr id="19" name="Text 17"/>
          <p:cNvSpPr/>
          <p:nvPr/>
        </p:nvSpPr>
        <p:spPr>
          <a:xfrm>
            <a:off x="1463040" y="3451861"/>
            <a:ext cx="6766560" cy="914400"/>
          </a:xfrm>
          <a:prstGeom prst="rect">
            <a:avLst/>
          </a:prstGeom>
          <a:noFill/>
          <a:ln/>
        </p:spPr>
        <p:txBody>
          <a:bodyPr wrap="square" rtlCol="0" anchor="t"/>
          <a:lstStyle/>
          <a:p>
            <a:r>
              <a:rPr lang="en-US" altLang="zh-CN" sz="1200" dirty="0">
                <a:solidFill>
                  <a:srgbClr val="444444"/>
                </a:solidFill>
                <a:latin typeface="Microsoft YaHei" pitchFamily="34" charset="0"/>
                <a:ea typeface="Microsoft YaHei" pitchFamily="34" charset="-122"/>
              </a:rPr>
              <a:t>4</a:t>
            </a:r>
            <a:r>
              <a:rPr lang="zh-CN" altLang="en-US" sz="1200" dirty="0">
                <a:solidFill>
                  <a:srgbClr val="444444"/>
                </a:solidFill>
                <a:latin typeface="Microsoft YaHei" pitchFamily="34" charset="0"/>
                <a:ea typeface="Microsoft YaHei" pitchFamily="34" charset="-122"/>
              </a:rPr>
              <a:t>组</a:t>
            </a:r>
            <a:br>
              <a:rPr lang="en-US" altLang="zh-CN" sz="1200" dirty="0">
                <a:solidFill>
                  <a:srgbClr val="444444"/>
                </a:solidFill>
                <a:latin typeface="Microsoft YaHei" pitchFamily="34" charset="0"/>
                <a:ea typeface="Microsoft YaHei" pitchFamily="34" charset="-122"/>
              </a:rPr>
            </a:br>
            <a:r>
              <a:rPr lang="en-US" sz="1200" dirty="0">
                <a:solidFill>
                  <a:srgbClr val="444444"/>
                </a:solidFill>
                <a:latin typeface="Microsoft YaHei" pitchFamily="34" charset="0"/>
                <a:ea typeface="Microsoft YaHei" pitchFamily="34" charset="-122"/>
              </a:rPr>
              <a:t>skill：</a:t>
            </a:r>
            <a:r>
              <a:rPr lang="zh-CN" altLang="en-US" sz="1200" dirty="0">
                <a:solidFill>
                  <a:srgbClr val="444444"/>
                </a:solidFill>
                <a:latin typeface="Microsoft YaHei" pitchFamily="34" charset="0"/>
                <a:ea typeface="Microsoft YaHei" pitchFamily="34" charset="-122"/>
              </a:rPr>
              <a:t>生成规范</a:t>
            </a:r>
            <a:r>
              <a:rPr lang="en-US" sz="1200" dirty="0">
                <a:solidFill>
                  <a:srgbClr val="444444"/>
                </a:solidFill>
                <a:latin typeface="Microsoft YaHei" pitchFamily="34" charset="0"/>
                <a:ea typeface="Microsoft YaHei" pitchFamily="34" charset="-122"/>
              </a:rPr>
              <a:t>DEMO</a:t>
            </a:r>
            <a:br>
              <a:rPr lang="en-US" sz="1200" dirty="0">
                <a:solidFill>
                  <a:srgbClr val="444444"/>
                </a:solidFill>
                <a:latin typeface="Microsoft YaHei" pitchFamily="34" charset="0"/>
                <a:ea typeface="Microsoft YaHei" pitchFamily="34" charset="-122"/>
              </a:rPr>
            </a:br>
            <a:r>
              <a:rPr lang="en-US" sz="1200" dirty="0">
                <a:solidFill>
                  <a:srgbClr val="444444"/>
                </a:solidFill>
                <a:latin typeface="Microsoft YaHei" pitchFamily="34" charset="0"/>
                <a:ea typeface="Microsoft YaHei" pitchFamily="34" charset="-122"/>
              </a:rPr>
              <a:t>skill</a:t>
            </a:r>
            <a:r>
              <a:rPr lang="zh-CN" altLang="en-US" sz="1200" dirty="0">
                <a:solidFill>
                  <a:srgbClr val="444444"/>
                </a:solidFill>
                <a:latin typeface="Microsoft YaHei" pitchFamily="34" charset="0"/>
                <a:ea typeface="Microsoft YaHei" pitchFamily="34" charset="-122"/>
              </a:rPr>
              <a:t>描述：融合平台现有的“前端标准组件库、全局 </a:t>
            </a:r>
            <a:r>
              <a:rPr lang="en-US" sz="1200" dirty="0">
                <a:solidFill>
                  <a:srgbClr val="444444"/>
                </a:solidFill>
                <a:latin typeface="Microsoft YaHei" pitchFamily="34" charset="0"/>
                <a:ea typeface="Microsoft YaHei" pitchFamily="34" charset="-122"/>
              </a:rPr>
              <a:t>Icon </a:t>
            </a:r>
            <a:r>
              <a:rPr lang="zh-CN" altLang="en-US" sz="1200" dirty="0">
                <a:solidFill>
                  <a:srgbClr val="444444"/>
                </a:solidFill>
                <a:latin typeface="Microsoft YaHei" pitchFamily="34" charset="0"/>
                <a:ea typeface="Microsoft YaHei" pitchFamily="34" charset="-122"/>
              </a:rPr>
              <a:t>规范以及国际化规范”，该 </a:t>
            </a:r>
            <a:r>
              <a:rPr lang="en-US" sz="1200" dirty="0">
                <a:solidFill>
                  <a:srgbClr val="444444"/>
                </a:solidFill>
                <a:latin typeface="Microsoft YaHei" pitchFamily="34" charset="0"/>
                <a:ea typeface="Microsoft YaHei" pitchFamily="34" charset="-122"/>
              </a:rPr>
              <a:t>Skill </a:t>
            </a:r>
            <a:r>
              <a:rPr lang="zh-CN" altLang="en-US" sz="1200" dirty="0">
                <a:solidFill>
                  <a:srgbClr val="444444"/>
                </a:solidFill>
                <a:latin typeface="Microsoft YaHei" pitchFamily="34" charset="0"/>
                <a:ea typeface="Microsoft YaHei" pitchFamily="34" charset="-122"/>
              </a:rPr>
              <a:t>可直接解析产品文档或需求描述，自动匹配并拼装出覆盖 </a:t>
            </a:r>
            <a:r>
              <a:rPr lang="en-US" altLang="zh-CN" sz="1200" dirty="0">
                <a:solidFill>
                  <a:srgbClr val="444444"/>
                </a:solidFill>
                <a:latin typeface="Microsoft YaHei" pitchFamily="34" charset="0"/>
                <a:ea typeface="Microsoft YaHei" pitchFamily="34" charset="-122"/>
              </a:rPr>
              <a:t>80% </a:t>
            </a:r>
            <a:r>
              <a:rPr lang="zh-CN" altLang="en-US" sz="1200" dirty="0">
                <a:solidFill>
                  <a:srgbClr val="444444"/>
                </a:solidFill>
                <a:latin typeface="Microsoft YaHei" pitchFamily="34" charset="0"/>
                <a:ea typeface="Microsoft YaHei" pitchFamily="34" charset="-122"/>
              </a:rPr>
              <a:t>基础场景的标准交互 </a:t>
            </a:r>
            <a:r>
              <a:rPr lang="en-US" sz="1200" dirty="0">
                <a:solidFill>
                  <a:srgbClr val="444444"/>
                </a:solidFill>
                <a:latin typeface="Microsoft YaHei" pitchFamily="34" charset="0"/>
                <a:ea typeface="Microsoft YaHei" pitchFamily="34" charset="-122"/>
              </a:rPr>
              <a:t>DEMO。</a:t>
            </a:r>
            <a:r>
              <a:rPr lang="zh-CN" altLang="en-US" sz="1200" dirty="0">
                <a:solidFill>
                  <a:srgbClr val="444444"/>
                </a:solidFill>
                <a:latin typeface="Microsoft YaHei" pitchFamily="34" charset="0"/>
                <a:ea typeface="Microsoft YaHei" pitchFamily="34" charset="-122"/>
              </a:rPr>
              <a:t>让 </a:t>
            </a:r>
            <a:r>
              <a:rPr lang="en-US" sz="1200" dirty="0">
                <a:solidFill>
                  <a:srgbClr val="444444"/>
                </a:solidFill>
                <a:latin typeface="Microsoft YaHei" pitchFamily="34" charset="0"/>
                <a:ea typeface="Microsoft YaHei" pitchFamily="34" charset="-122"/>
              </a:rPr>
              <a:t>PM </a:t>
            </a:r>
            <a:r>
              <a:rPr lang="zh-CN" altLang="en-US" sz="1200" dirty="0">
                <a:solidFill>
                  <a:srgbClr val="444444"/>
                </a:solidFill>
                <a:latin typeface="Microsoft YaHei" pitchFamily="34" charset="0"/>
                <a:ea typeface="Microsoft YaHei" pitchFamily="34" charset="-122"/>
              </a:rPr>
              <a:t>快速产出“所见即所得”的具象化需求；便于初期与研发和设计师分别在技术方案和设计思路上快速达成一致。同时该</a:t>
            </a:r>
            <a:r>
              <a:rPr lang="en-US" sz="1200" dirty="0">
                <a:solidFill>
                  <a:srgbClr val="444444"/>
                </a:solidFill>
                <a:latin typeface="Microsoft YaHei" pitchFamily="34" charset="0"/>
                <a:ea typeface="Microsoft YaHei" pitchFamily="34" charset="-122"/>
              </a:rPr>
              <a:t>DEMO</a:t>
            </a:r>
            <a:r>
              <a:rPr lang="zh-CN" altLang="en-US" sz="1200" dirty="0">
                <a:solidFill>
                  <a:srgbClr val="444444"/>
                </a:solidFill>
                <a:latin typeface="Microsoft YaHei" pitchFamily="34" charset="0"/>
                <a:ea typeface="Microsoft YaHei" pitchFamily="34" charset="-122"/>
              </a:rPr>
              <a:t>让设计师彻底告别基础的“搭积木”工作，只需专注剩下 </a:t>
            </a:r>
            <a:r>
              <a:rPr lang="en-US" altLang="zh-CN" sz="1200" dirty="0">
                <a:solidFill>
                  <a:srgbClr val="444444"/>
                </a:solidFill>
                <a:latin typeface="Microsoft YaHei" pitchFamily="34" charset="0"/>
                <a:ea typeface="Microsoft YaHei" pitchFamily="34" charset="-122"/>
              </a:rPr>
              <a:t>20% </a:t>
            </a:r>
            <a:r>
              <a:rPr lang="zh-CN" altLang="en-US" sz="1200" dirty="0">
                <a:solidFill>
                  <a:srgbClr val="444444"/>
                </a:solidFill>
                <a:latin typeface="Microsoft YaHei" pitchFamily="34" charset="0"/>
                <a:ea typeface="Microsoft YaHei" pitchFamily="34" charset="-122"/>
              </a:rPr>
              <a:t>的核心审美判断与最终 </a:t>
            </a:r>
            <a:r>
              <a:rPr lang="en-US" sz="1200" dirty="0">
                <a:solidFill>
                  <a:srgbClr val="444444"/>
                </a:solidFill>
                <a:latin typeface="Microsoft YaHei" pitchFamily="34" charset="0"/>
                <a:ea typeface="Microsoft YaHei" pitchFamily="34" charset="-122"/>
              </a:rPr>
              <a:t>UI </a:t>
            </a:r>
            <a:r>
              <a:rPr lang="zh-CN" altLang="en-US" sz="1200" dirty="0">
                <a:solidFill>
                  <a:srgbClr val="444444"/>
                </a:solidFill>
                <a:latin typeface="Microsoft YaHei" pitchFamily="34" charset="0"/>
                <a:ea typeface="Microsoft YaHei" pitchFamily="34" charset="-122"/>
              </a:rPr>
              <a:t>方案决策，提升产研设计定稿效率。</a:t>
            </a:r>
            <a:r>
              <a:rPr lang="en-US" sz="1200" b="1" dirty="0" err="1">
                <a:solidFill>
                  <a:srgbClr val="444444"/>
                </a:solidFill>
                <a:latin typeface="Microsoft YaHei" pitchFamily="34" charset="0"/>
                <a:ea typeface="Microsoft YaHei" pitchFamily="34" charset="-122"/>
              </a:rPr>
              <a:t>公司前端标准库使用vue</a:t>
            </a:r>
            <a:r>
              <a:rPr lang="en-US" sz="1200" b="1" dirty="0">
                <a:solidFill>
                  <a:srgbClr val="444444"/>
                </a:solidFill>
                <a:latin typeface="Microsoft YaHei" pitchFamily="34" charset="0"/>
                <a:ea typeface="Microsoft YaHei" pitchFamily="34" charset="-122"/>
              </a:rPr>
              <a:t> element </a:t>
            </a:r>
            <a:r>
              <a:rPr lang="en-US" sz="1200" b="1" dirty="0" err="1">
                <a:solidFill>
                  <a:srgbClr val="444444"/>
                </a:solidFill>
                <a:latin typeface="Microsoft YaHei" pitchFamily="34" charset="0"/>
                <a:ea typeface="Microsoft YaHei" pitchFamily="34" charset="-122"/>
              </a:rPr>
              <a:t>ui</a:t>
            </a:r>
            <a:r>
              <a:rPr lang="en-US" sz="1200" b="1" dirty="0">
                <a:solidFill>
                  <a:srgbClr val="444444"/>
                </a:solidFill>
                <a:latin typeface="Microsoft YaHei" pitchFamily="34" charset="0"/>
                <a:ea typeface="Microsoft YaHei" pitchFamily="34" charset="-122"/>
              </a:rPr>
              <a:t> </a:t>
            </a:r>
            <a:r>
              <a:rPr lang="en-US" sz="1200" b="1" dirty="0" err="1">
                <a:solidFill>
                  <a:srgbClr val="444444"/>
                </a:solidFill>
                <a:latin typeface="Microsoft YaHei" pitchFamily="34" charset="0"/>
                <a:ea typeface="Microsoft YaHei" pitchFamily="34" charset="-122"/>
              </a:rPr>
              <a:t>替代</a:t>
            </a:r>
            <a:r>
              <a:rPr lang="zh-CN" altLang="en-US" sz="1200" b="1" dirty="0">
                <a:solidFill>
                  <a:srgbClr val="444444"/>
                </a:solidFill>
                <a:latin typeface="Microsoft YaHei" pitchFamily="34" charset="0"/>
                <a:ea typeface="Microsoft YaHei" pitchFamily="34" charset="-122"/>
              </a:rPr>
              <a:t>，最终生成的</a:t>
            </a:r>
            <a:r>
              <a:rPr lang="en-US" sz="1200" b="1" dirty="0" err="1">
                <a:solidFill>
                  <a:srgbClr val="444444"/>
                </a:solidFill>
                <a:latin typeface="Microsoft YaHei" pitchFamily="34" charset="0"/>
                <a:ea typeface="Microsoft YaHei" pitchFamily="34" charset="-122"/>
              </a:rPr>
              <a:t>ui</a:t>
            </a:r>
            <a:r>
              <a:rPr lang="en-US" sz="1200" b="1" dirty="0">
                <a:solidFill>
                  <a:srgbClr val="444444"/>
                </a:solidFill>
                <a:latin typeface="Microsoft YaHei" pitchFamily="34" charset="0"/>
                <a:ea typeface="Microsoft YaHei" pitchFamily="34" charset="-122"/>
              </a:rPr>
              <a:t> </a:t>
            </a:r>
            <a:r>
              <a:rPr lang="en-US" sz="1200" b="1" dirty="0" err="1">
                <a:solidFill>
                  <a:srgbClr val="444444"/>
                </a:solidFill>
                <a:latin typeface="Microsoft YaHei" pitchFamily="34" charset="0"/>
                <a:ea typeface="Microsoft YaHei" pitchFamily="34" charset="-122"/>
              </a:rPr>
              <a:t>是html的</a:t>
            </a:r>
            <a:r>
              <a:rPr lang="zh-CN" altLang="en-US" sz="1200" b="1" dirty="0">
                <a:solidFill>
                  <a:srgbClr val="444444"/>
                </a:solidFill>
                <a:latin typeface="Microsoft YaHei" pitchFamily="34" charset="0"/>
                <a:ea typeface="Microsoft YaHei" pitchFamily="34" charset="-122"/>
              </a:rPr>
              <a:t>。</a:t>
            </a:r>
            <a:endParaRPr lang="en-US" sz="1200" b="1" dirty="0">
              <a:solidFill>
                <a:srgbClr val="444444"/>
              </a:solidFill>
              <a:latin typeface="Microsoft YaHei" pitchFamily="34" charset="0"/>
              <a:ea typeface="Microsoft YaHei" pitchFamily="34" charset="-122"/>
            </a:endParaRPr>
          </a:p>
          <a:p>
            <a:pPr marL="0" indent="0" algn="l">
              <a:buNone/>
            </a:pPr>
            <a:br>
              <a:rPr lang="zh-CN" altLang="en-US" sz="1200" dirty="0">
                <a:solidFill>
                  <a:srgbClr val="444444"/>
                </a:solidFill>
                <a:latin typeface="Microsoft YaHei" pitchFamily="34" charset="0"/>
                <a:ea typeface="Microsoft YaHei" pitchFamily="34" charset="-122"/>
              </a:rPr>
            </a:br>
            <a:endParaRPr lang="en-US" sz="1200" dirty="0">
              <a:solidFill>
                <a:srgbClr val="444444"/>
              </a:solidFill>
              <a:latin typeface="Microsoft YaHei" pitchFamily="34" charset="0"/>
              <a:ea typeface="Microsoft YaHei"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4572000" cy="457200"/>
          </a:xfrm>
          <a:prstGeom prst="rect">
            <a:avLst/>
          </a:prstGeom>
          <a:noFill/>
          <a:ln/>
        </p:spPr>
        <p:txBody>
          <a:bodyPr wrap="square" rtlCol="0" anchor="ctr"/>
          <a:lstStyle/>
          <a:p>
            <a:pPr marL="0" indent="0" algn="l">
              <a:buNone/>
            </a:pPr>
            <a:r>
              <a:rPr lang="en-US" sz="2800" dirty="0">
                <a:solidFill>
                  <a:srgbClr val="232F3E"/>
                </a:solidFill>
                <a:latin typeface="Microsoft YaHei" pitchFamily="34" charset="0"/>
                <a:ea typeface="Microsoft YaHei" pitchFamily="34" charset="-122"/>
                <a:cs typeface="Microsoft YaHei" pitchFamily="34" charset="-120"/>
              </a:rPr>
              <a:t>方法论全景图</a:t>
            </a:r>
            <a:endParaRPr lang="en-US" sz="2800" dirty="0"/>
          </a:p>
        </p:txBody>
      </p:sp>
      <p:sp>
        <p:nvSpPr>
          <p:cNvPr id="4" name="Text 2"/>
          <p:cNvSpPr/>
          <p:nvPr/>
        </p:nvSpPr>
        <p:spPr>
          <a:xfrm>
            <a:off x="731520" y="594360"/>
            <a:ext cx="7680960" cy="320040"/>
          </a:xfrm>
          <a:prstGeom prst="rect">
            <a:avLst/>
          </a:prstGeom>
          <a:noFill/>
          <a:ln/>
        </p:spPr>
        <p:txBody>
          <a:bodyPr wrap="square" rtlCol="0" anchor="ctr"/>
          <a:lstStyle/>
          <a:p>
            <a:pPr marL="0" indent="0" algn="l">
              <a:buNone/>
            </a:pPr>
            <a:r>
              <a:rPr lang="en-US" sz="1300" dirty="0">
                <a:solidFill>
                  <a:srgbClr val="888888"/>
                </a:solidFill>
                <a:latin typeface="Microsoft YaHei" pitchFamily="34" charset="0"/>
                <a:ea typeface="Microsoft YaHei" pitchFamily="34" charset="-122"/>
                <a:cs typeface="Microsoft YaHei" pitchFamily="34" charset="-120"/>
              </a:rPr>
              <a:t>从模糊想法到可重复使用的专家系统，4 步完成</a:t>
            </a:r>
            <a:endParaRPr lang="en-US" sz="1300" dirty="0"/>
          </a:p>
        </p:txBody>
      </p:sp>
      <p:sp>
        <p:nvSpPr>
          <p:cNvPr id="5" name="Shape 3"/>
          <p:cNvSpPr/>
          <p:nvPr/>
        </p:nvSpPr>
        <p:spPr>
          <a:xfrm>
            <a:off x="457200" y="1097280"/>
            <a:ext cx="1965960" cy="3200400"/>
          </a:xfrm>
          <a:prstGeom prst="roundRect">
            <a:avLst>
              <a:gd name="adj" fmla="val 3721"/>
            </a:avLst>
          </a:prstGeom>
          <a:solidFill>
            <a:srgbClr val="F5F5F5"/>
          </a:solidFill>
          <a:ln w="12700">
            <a:solidFill>
              <a:srgbClr val="E8E8E8"/>
            </a:solidFill>
            <a:prstDash val="solid"/>
          </a:ln>
        </p:spPr>
        <p:txBody>
          <a:bodyPr/>
          <a:lstStyle/>
          <a:p>
            <a:endParaRPr lang="en-CN"/>
          </a:p>
        </p:txBody>
      </p:sp>
      <p:sp>
        <p:nvSpPr>
          <p:cNvPr id="6" name="Text 4"/>
          <p:cNvSpPr/>
          <p:nvPr/>
        </p:nvSpPr>
        <p:spPr>
          <a:xfrm>
            <a:off x="548640" y="1234440"/>
            <a:ext cx="548640" cy="365760"/>
          </a:xfrm>
          <a:prstGeom prst="rect">
            <a:avLst/>
          </a:prstGeom>
          <a:noFill/>
          <a:ln/>
        </p:spPr>
        <p:txBody>
          <a:bodyPr wrap="square" rtlCol="0" anchor="ctr"/>
          <a:lstStyle/>
          <a:p>
            <a:pPr marL="0" indent="0" algn="l">
              <a:buNone/>
            </a:pPr>
            <a:r>
              <a:rPr lang="en-US" sz="2200" b="1" dirty="0">
                <a:solidFill>
                  <a:srgbClr val="00A4B4"/>
                </a:solidFill>
                <a:latin typeface="Microsoft YaHei" pitchFamily="34" charset="0"/>
                <a:ea typeface="Microsoft YaHei" pitchFamily="34" charset="-122"/>
                <a:cs typeface="Microsoft YaHei" pitchFamily="34" charset="-120"/>
              </a:rPr>
              <a:t>01</a:t>
            </a:r>
            <a:endParaRPr lang="en-US" sz="2200" dirty="0"/>
          </a:p>
        </p:txBody>
      </p:sp>
      <p:sp>
        <p:nvSpPr>
          <p:cNvPr id="7" name="Text 5"/>
          <p:cNvSpPr/>
          <p:nvPr/>
        </p:nvSpPr>
        <p:spPr>
          <a:xfrm>
            <a:off x="548640" y="1645920"/>
            <a:ext cx="1783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deepresearch</a:t>
            </a:r>
            <a:endParaRPr lang="en-US" sz="1400" dirty="0"/>
          </a:p>
        </p:txBody>
      </p:sp>
      <p:sp>
        <p:nvSpPr>
          <p:cNvPr id="8" name="Text 6"/>
          <p:cNvSpPr/>
          <p:nvPr/>
        </p:nvSpPr>
        <p:spPr>
          <a:xfrm>
            <a:off x="548640" y="1965960"/>
            <a:ext cx="1783080" cy="274320"/>
          </a:xfrm>
          <a:prstGeom prst="rect">
            <a:avLst/>
          </a:prstGeom>
          <a:noFill/>
          <a:ln/>
        </p:spPr>
        <p:txBody>
          <a:bodyPr wrap="square" rtlCol="0" anchor="ctr"/>
          <a:lstStyle/>
          <a:p>
            <a:pPr marL="0" indent="0" algn="l">
              <a:buNone/>
            </a:pPr>
            <a:r>
              <a:rPr lang="en-US" sz="1100" dirty="0">
                <a:solidFill>
                  <a:srgbClr val="00A4B4"/>
                </a:solidFill>
                <a:latin typeface="Microsoft YaHei" pitchFamily="34" charset="0"/>
                <a:ea typeface="Microsoft YaHei" pitchFamily="34" charset="-122"/>
                <a:cs typeface="Microsoft YaHei" pitchFamily="34" charset="-120"/>
              </a:rPr>
              <a:t>先把功课做足</a:t>
            </a:r>
            <a:endParaRPr lang="en-US" sz="1100" dirty="0"/>
          </a:p>
        </p:txBody>
      </p:sp>
      <p:sp>
        <p:nvSpPr>
          <p:cNvPr id="9" name="Shape 7"/>
          <p:cNvSpPr/>
          <p:nvPr/>
        </p:nvSpPr>
        <p:spPr>
          <a:xfrm>
            <a:off x="548640" y="2286000"/>
            <a:ext cx="1783080" cy="18288"/>
          </a:xfrm>
          <a:prstGeom prst="rect">
            <a:avLst/>
          </a:prstGeom>
          <a:solidFill>
            <a:srgbClr val="E8E8E8"/>
          </a:solidFill>
          <a:ln/>
        </p:spPr>
        <p:txBody>
          <a:bodyPr/>
          <a:lstStyle/>
          <a:p>
            <a:endParaRPr lang="en-CN"/>
          </a:p>
        </p:txBody>
      </p:sp>
      <p:sp>
        <p:nvSpPr>
          <p:cNvPr id="10" name="Text 8"/>
          <p:cNvSpPr/>
          <p:nvPr/>
        </p:nvSpPr>
        <p:spPr>
          <a:xfrm>
            <a:off x="548640" y="2377440"/>
            <a:ext cx="1783080" cy="137160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5-8个AI Agent</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并行调研，交叉验证</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输出带置信度的研究报告</a:t>
            </a:r>
            <a:endParaRPr lang="en-US" sz="1000" dirty="0"/>
          </a:p>
        </p:txBody>
      </p:sp>
      <p:sp>
        <p:nvSpPr>
          <p:cNvPr id="11" name="Text 9"/>
          <p:cNvSpPr/>
          <p:nvPr/>
        </p:nvSpPr>
        <p:spPr>
          <a:xfrm>
            <a:off x="2423160" y="2286000"/>
            <a:ext cx="182880" cy="365760"/>
          </a:xfrm>
          <a:prstGeom prst="rect">
            <a:avLst/>
          </a:prstGeom>
          <a:noFill/>
          <a:ln/>
        </p:spPr>
        <p:txBody>
          <a:bodyPr wrap="square" rtlCol="0" anchor="ctr"/>
          <a:lstStyle/>
          <a:p>
            <a:pPr marL="0" indent="0" algn="ctr">
              <a:buNone/>
            </a:pPr>
            <a:r>
              <a:rPr lang="en-US" sz="1200" dirty="0">
                <a:solidFill>
                  <a:srgbClr val="999999"/>
                </a:solidFill>
              </a:rPr>
              <a:t>▶</a:t>
            </a:r>
            <a:endParaRPr lang="en-US" sz="1200" dirty="0"/>
          </a:p>
        </p:txBody>
      </p:sp>
      <p:sp>
        <p:nvSpPr>
          <p:cNvPr id="12" name="Shape 10"/>
          <p:cNvSpPr/>
          <p:nvPr/>
        </p:nvSpPr>
        <p:spPr>
          <a:xfrm>
            <a:off x="2606040" y="1097280"/>
            <a:ext cx="1965960" cy="3200400"/>
          </a:xfrm>
          <a:prstGeom prst="roundRect">
            <a:avLst>
              <a:gd name="adj" fmla="val 3721"/>
            </a:avLst>
          </a:prstGeom>
          <a:solidFill>
            <a:srgbClr val="F5F5F5"/>
          </a:solidFill>
          <a:ln w="12700">
            <a:solidFill>
              <a:srgbClr val="E8E8E8"/>
            </a:solidFill>
            <a:prstDash val="solid"/>
          </a:ln>
        </p:spPr>
        <p:txBody>
          <a:bodyPr/>
          <a:lstStyle/>
          <a:p>
            <a:endParaRPr lang="en-CN"/>
          </a:p>
        </p:txBody>
      </p:sp>
      <p:sp>
        <p:nvSpPr>
          <p:cNvPr id="13" name="Text 11"/>
          <p:cNvSpPr/>
          <p:nvPr/>
        </p:nvSpPr>
        <p:spPr>
          <a:xfrm>
            <a:off x="2697480" y="1234440"/>
            <a:ext cx="548640" cy="365760"/>
          </a:xfrm>
          <a:prstGeom prst="rect">
            <a:avLst/>
          </a:prstGeom>
          <a:noFill/>
          <a:ln/>
        </p:spPr>
        <p:txBody>
          <a:bodyPr wrap="square" rtlCol="0" anchor="ctr"/>
          <a:lstStyle/>
          <a:p>
            <a:pPr marL="0" indent="0" algn="l">
              <a:buNone/>
            </a:pPr>
            <a:r>
              <a:rPr lang="en-US" sz="2200" b="1" dirty="0">
                <a:solidFill>
                  <a:srgbClr val="FF9900"/>
                </a:solidFill>
                <a:latin typeface="Microsoft YaHei" pitchFamily="34" charset="0"/>
                <a:ea typeface="Microsoft YaHei" pitchFamily="34" charset="-122"/>
                <a:cs typeface="Microsoft YaHei" pitchFamily="34" charset="-120"/>
              </a:rPr>
              <a:t>02</a:t>
            </a:r>
            <a:endParaRPr lang="en-US" sz="2200" dirty="0"/>
          </a:p>
        </p:txBody>
      </p:sp>
      <p:sp>
        <p:nvSpPr>
          <p:cNvPr id="14" name="Text 12"/>
          <p:cNvSpPr/>
          <p:nvPr/>
        </p:nvSpPr>
        <p:spPr>
          <a:xfrm>
            <a:off x="2697480" y="1645920"/>
            <a:ext cx="1783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brainstorm</a:t>
            </a:r>
            <a:endParaRPr lang="en-US" sz="1400" dirty="0"/>
          </a:p>
        </p:txBody>
      </p:sp>
      <p:sp>
        <p:nvSpPr>
          <p:cNvPr id="15" name="Text 13"/>
          <p:cNvSpPr/>
          <p:nvPr/>
        </p:nvSpPr>
        <p:spPr>
          <a:xfrm>
            <a:off x="2697480" y="1965960"/>
            <a:ext cx="1783080" cy="274320"/>
          </a:xfrm>
          <a:prstGeom prst="rect">
            <a:avLst/>
          </a:prstGeom>
          <a:noFill/>
          <a:ln/>
        </p:spPr>
        <p:txBody>
          <a:bodyPr wrap="square" rtlCol="0" anchor="ctr"/>
          <a:lstStyle/>
          <a:p>
            <a:pPr marL="0" indent="0" algn="l">
              <a:buNone/>
            </a:pPr>
            <a:r>
              <a:rPr lang="en-US" sz="1100" dirty="0">
                <a:solidFill>
                  <a:srgbClr val="FF9900"/>
                </a:solidFill>
                <a:latin typeface="Microsoft YaHei" pitchFamily="34" charset="0"/>
                <a:ea typeface="Microsoft YaHei" pitchFamily="34" charset="-122"/>
                <a:cs typeface="Microsoft YaHei" pitchFamily="34" charset="-120"/>
              </a:rPr>
              <a:t>把想法变成决策</a:t>
            </a:r>
            <a:endParaRPr lang="en-US" sz="1100" dirty="0"/>
          </a:p>
        </p:txBody>
      </p:sp>
      <p:sp>
        <p:nvSpPr>
          <p:cNvPr id="16" name="Shape 14"/>
          <p:cNvSpPr/>
          <p:nvPr/>
        </p:nvSpPr>
        <p:spPr>
          <a:xfrm>
            <a:off x="2697480" y="2286000"/>
            <a:ext cx="1783080" cy="18288"/>
          </a:xfrm>
          <a:prstGeom prst="rect">
            <a:avLst/>
          </a:prstGeom>
          <a:solidFill>
            <a:srgbClr val="E8E8E8"/>
          </a:solidFill>
          <a:ln/>
        </p:spPr>
        <p:txBody>
          <a:bodyPr/>
          <a:lstStyle/>
          <a:p>
            <a:endParaRPr lang="en-CN"/>
          </a:p>
        </p:txBody>
      </p:sp>
      <p:sp>
        <p:nvSpPr>
          <p:cNvPr id="17" name="Text 15"/>
          <p:cNvSpPr/>
          <p:nvPr/>
        </p:nvSpPr>
        <p:spPr>
          <a:xfrm>
            <a:off x="2697480" y="2377440"/>
            <a:ext cx="1783080" cy="137160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一次一个问题追问</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5个问题5个决策</a:t>
            </a:r>
            <a:endParaRPr lang="en-US" sz="1000" dirty="0"/>
          </a:p>
        </p:txBody>
      </p:sp>
      <p:sp>
        <p:nvSpPr>
          <p:cNvPr id="18" name="Text 16"/>
          <p:cNvSpPr/>
          <p:nvPr/>
        </p:nvSpPr>
        <p:spPr>
          <a:xfrm>
            <a:off x="4572000" y="2286000"/>
            <a:ext cx="182880" cy="365760"/>
          </a:xfrm>
          <a:prstGeom prst="rect">
            <a:avLst/>
          </a:prstGeom>
          <a:noFill/>
          <a:ln/>
        </p:spPr>
        <p:txBody>
          <a:bodyPr wrap="square" rtlCol="0" anchor="ctr"/>
          <a:lstStyle/>
          <a:p>
            <a:pPr marL="0" indent="0" algn="ctr">
              <a:buNone/>
            </a:pPr>
            <a:r>
              <a:rPr lang="en-US" sz="1200" dirty="0">
                <a:solidFill>
                  <a:srgbClr val="999999"/>
                </a:solidFill>
              </a:rPr>
              <a:t>▶</a:t>
            </a:r>
            <a:endParaRPr lang="en-US" sz="1200" dirty="0"/>
          </a:p>
        </p:txBody>
      </p:sp>
      <p:sp>
        <p:nvSpPr>
          <p:cNvPr id="19" name="Shape 17"/>
          <p:cNvSpPr/>
          <p:nvPr/>
        </p:nvSpPr>
        <p:spPr>
          <a:xfrm>
            <a:off x="4754880" y="1097280"/>
            <a:ext cx="1965960" cy="3200400"/>
          </a:xfrm>
          <a:prstGeom prst="roundRect">
            <a:avLst>
              <a:gd name="adj" fmla="val 3721"/>
            </a:avLst>
          </a:prstGeom>
          <a:solidFill>
            <a:srgbClr val="F5F5F5"/>
          </a:solidFill>
          <a:ln w="12700">
            <a:solidFill>
              <a:srgbClr val="E8E8E8"/>
            </a:solidFill>
            <a:prstDash val="solid"/>
          </a:ln>
        </p:spPr>
        <p:txBody>
          <a:bodyPr/>
          <a:lstStyle/>
          <a:p>
            <a:endParaRPr lang="en-CN"/>
          </a:p>
        </p:txBody>
      </p:sp>
      <p:sp>
        <p:nvSpPr>
          <p:cNvPr id="20" name="Text 18"/>
          <p:cNvSpPr/>
          <p:nvPr/>
        </p:nvSpPr>
        <p:spPr>
          <a:xfrm>
            <a:off x="4846320" y="1234440"/>
            <a:ext cx="548640" cy="365760"/>
          </a:xfrm>
          <a:prstGeom prst="rect">
            <a:avLst/>
          </a:prstGeom>
          <a:noFill/>
          <a:ln/>
        </p:spPr>
        <p:txBody>
          <a:bodyPr wrap="square" rtlCol="0" anchor="ctr"/>
          <a:lstStyle/>
          <a:p>
            <a:pPr marL="0" indent="0" algn="l">
              <a:buNone/>
            </a:pPr>
            <a:r>
              <a:rPr lang="en-US" sz="2200" b="1" dirty="0">
                <a:solidFill>
                  <a:srgbClr val="1A73E8"/>
                </a:solidFill>
                <a:latin typeface="Microsoft YaHei" pitchFamily="34" charset="0"/>
                <a:ea typeface="Microsoft YaHei" pitchFamily="34" charset="-122"/>
                <a:cs typeface="Microsoft YaHei" pitchFamily="34" charset="-120"/>
              </a:rPr>
              <a:t>03</a:t>
            </a:r>
            <a:endParaRPr lang="en-US" sz="2200" dirty="0"/>
          </a:p>
        </p:txBody>
      </p:sp>
      <p:sp>
        <p:nvSpPr>
          <p:cNvPr id="21" name="Text 19"/>
          <p:cNvSpPr/>
          <p:nvPr/>
        </p:nvSpPr>
        <p:spPr>
          <a:xfrm>
            <a:off x="4846320" y="1645920"/>
            <a:ext cx="1783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plan</a:t>
            </a:r>
            <a:endParaRPr lang="en-US" sz="1400" dirty="0"/>
          </a:p>
        </p:txBody>
      </p:sp>
      <p:sp>
        <p:nvSpPr>
          <p:cNvPr id="22" name="Text 20"/>
          <p:cNvSpPr/>
          <p:nvPr/>
        </p:nvSpPr>
        <p:spPr>
          <a:xfrm>
            <a:off x="4846320" y="1965960"/>
            <a:ext cx="1783080" cy="274320"/>
          </a:xfrm>
          <a:prstGeom prst="rect">
            <a:avLst/>
          </a:prstGeom>
          <a:noFill/>
          <a:ln/>
        </p:spPr>
        <p:txBody>
          <a:bodyPr wrap="square" rtlCol="0" anchor="ctr"/>
          <a:lstStyle/>
          <a:p>
            <a:pPr marL="0" indent="0" algn="l">
              <a:buNone/>
            </a:pPr>
            <a:r>
              <a:rPr lang="en-US" sz="1100" dirty="0">
                <a:solidFill>
                  <a:srgbClr val="1A73E8"/>
                </a:solidFill>
                <a:latin typeface="Microsoft YaHei" pitchFamily="34" charset="0"/>
                <a:ea typeface="Microsoft YaHei" pitchFamily="34" charset="-122"/>
                <a:cs typeface="Microsoft YaHei" pitchFamily="34" charset="-120"/>
              </a:rPr>
              <a:t>把任务拆清楚</a:t>
            </a:r>
            <a:endParaRPr lang="en-US" sz="1100" dirty="0"/>
          </a:p>
        </p:txBody>
      </p:sp>
      <p:sp>
        <p:nvSpPr>
          <p:cNvPr id="23" name="Shape 21"/>
          <p:cNvSpPr/>
          <p:nvPr/>
        </p:nvSpPr>
        <p:spPr>
          <a:xfrm>
            <a:off x="4846320" y="2286000"/>
            <a:ext cx="1783080" cy="18288"/>
          </a:xfrm>
          <a:prstGeom prst="rect">
            <a:avLst/>
          </a:prstGeom>
          <a:solidFill>
            <a:srgbClr val="E8E8E8"/>
          </a:solidFill>
          <a:ln/>
        </p:spPr>
        <p:txBody>
          <a:bodyPr/>
          <a:lstStyle/>
          <a:p>
            <a:endParaRPr lang="en-CN"/>
          </a:p>
        </p:txBody>
      </p:sp>
      <p:sp>
        <p:nvSpPr>
          <p:cNvPr id="24" name="Text 22"/>
          <p:cNvSpPr/>
          <p:nvPr/>
        </p:nvSpPr>
        <p:spPr>
          <a:xfrm>
            <a:off x="4846320" y="2377440"/>
            <a:ext cx="1783080" cy="137160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生成DAG任务依赖图</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哪些并行，哪些串行</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可选步骤，复杂时使用</a:t>
            </a:r>
            <a:endParaRPr lang="en-US" sz="1000" dirty="0"/>
          </a:p>
        </p:txBody>
      </p:sp>
      <p:sp>
        <p:nvSpPr>
          <p:cNvPr id="25" name="Text 23"/>
          <p:cNvSpPr/>
          <p:nvPr/>
        </p:nvSpPr>
        <p:spPr>
          <a:xfrm>
            <a:off x="6720840" y="2286000"/>
            <a:ext cx="182880" cy="365760"/>
          </a:xfrm>
          <a:prstGeom prst="rect">
            <a:avLst/>
          </a:prstGeom>
          <a:noFill/>
          <a:ln/>
        </p:spPr>
        <p:txBody>
          <a:bodyPr wrap="square" rtlCol="0" anchor="ctr"/>
          <a:lstStyle/>
          <a:p>
            <a:pPr marL="0" indent="0" algn="ctr">
              <a:buNone/>
            </a:pPr>
            <a:r>
              <a:rPr lang="en-US" sz="1200" dirty="0">
                <a:solidFill>
                  <a:srgbClr val="999999"/>
                </a:solidFill>
              </a:rPr>
              <a:t>▶</a:t>
            </a:r>
            <a:endParaRPr lang="en-US" sz="1200" dirty="0"/>
          </a:p>
        </p:txBody>
      </p:sp>
      <p:sp>
        <p:nvSpPr>
          <p:cNvPr id="26" name="Shape 24"/>
          <p:cNvSpPr/>
          <p:nvPr/>
        </p:nvSpPr>
        <p:spPr>
          <a:xfrm>
            <a:off x="6903720" y="1097280"/>
            <a:ext cx="1965960" cy="3200400"/>
          </a:xfrm>
          <a:prstGeom prst="roundRect">
            <a:avLst>
              <a:gd name="adj" fmla="val 3721"/>
            </a:avLst>
          </a:prstGeom>
          <a:solidFill>
            <a:srgbClr val="F5F5F5"/>
          </a:solidFill>
          <a:ln w="12700">
            <a:solidFill>
              <a:srgbClr val="E8E8E8"/>
            </a:solidFill>
            <a:prstDash val="solid"/>
          </a:ln>
        </p:spPr>
        <p:txBody>
          <a:bodyPr/>
          <a:lstStyle/>
          <a:p>
            <a:endParaRPr lang="en-CN"/>
          </a:p>
        </p:txBody>
      </p:sp>
      <p:sp>
        <p:nvSpPr>
          <p:cNvPr id="27" name="Text 25"/>
          <p:cNvSpPr/>
          <p:nvPr/>
        </p:nvSpPr>
        <p:spPr>
          <a:xfrm>
            <a:off x="6995160" y="1234440"/>
            <a:ext cx="548640" cy="365760"/>
          </a:xfrm>
          <a:prstGeom prst="rect">
            <a:avLst/>
          </a:prstGeom>
          <a:noFill/>
          <a:ln/>
        </p:spPr>
        <p:txBody>
          <a:bodyPr wrap="square" rtlCol="0" anchor="ctr"/>
          <a:lstStyle/>
          <a:p>
            <a:pPr marL="0" indent="0" algn="l">
              <a:buNone/>
            </a:pPr>
            <a:r>
              <a:rPr lang="en-US" sz="2200" b="1" dirty="0">
                <a:solidFill>
                  <a:srgbClr val="34A853"/>
                </a:solidFill>
                <a:latin typeface="Microsoft YaHei" pitchFamily="34" charset="0"/>
                <a:ea typeface="Microsoft YaHei" pitchFamily="34" charset="-122"/>
                <a:cs typeface="Microsoft YaHei" pitchFamily="34" charset="-120"/>
              </a:rPr>
              <a:t>04</a:t>
            </a:r>
            <a:endParaRPr lang="en-US" sz="2200" dirty="0"/>
          </a:p>
        </p:txBody>
      </p:sp>
      <p:sp>
        <p:nvSpPr>
          <p:cNvPr id="28" name="Text 26"/>
          <p:cNvSpPr/>
          <p:nvPr/>
        </p:nvSpPr>
        <p:spPr>
          <a:xfrm>
            <a:off x="6995160" y="1645920"/>
            <a:ext cx="1783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execute</a:t>
            </a:r>
            <a:endParaRPr lang="en-US" sz="1400" dirty="0"/>
          </a:p>
        </p:txBody>
      </p:sp>
      <p:sp>
        <p:nvSpPr>
          <p:cNvPr id="29" name="Text 27"/>
          <p:cNvSpPr/>
          <p:nvPr/>
        </p:nvSpPr>
        <p:spPr>
          <a:xfrm>
            <a:off x="6995160" y="1965960"/>
            <a:ext cx="1783080" cy="274320"/>
          </a:xfrm>
          <a:prstGeom prst="rect">
            <a:avLst/>
          </a:prstGeom>
          <a:noFill/>
          <a:ln/>
        </p:spPr>
        <p:txBody>
          <a:bodyPr wrap="square" rtlCol="0" anchor="ctr"/>
          <a:lstStyle/>
          <a:p>
            <a:pPr marL="0" indent="0" algn="l">
              <a:buNone/>
            </a:pPr>
            <a:r>
              <a:rPr lang="en-US" sz="1100" dirty="0">
                <a:solidFill>
                  <a:srgbClr val="34A853"/>
                </a:solidFill>
                <a:latin typeface="Microsoft YaHei" pitchFamily="34" charset="0"/>
                <a:ea typeface="Microsoft YaHei" pitchFamily="34" charset="-122"/>
                <a:cs typeface="Microsoft YaHei" pitchFamily="34" charset="-120"/>
              </a:rPr>
              <a:t>真正动手做</a:t>
            </a:r>
            <a:endParaRPr lang="en-US" sz="1100" dirty="0"/>
          </a:p>
        </p:txBody>
      </p:sp>
      <p:sp>
        <p:nvSpPr>
          <p:cNvPr id="30" name="Shape 28"/>
          <p:cNvSpPr/>
          <p:nvPr/>
        </p:nvSpPr>
        <p:spPr>
          <a:xfrm>
            <a:off x="6995160" y="2286000"/>
            <a:ext cx="1783080" cy="18288"/>
          </a:xfrm>
          <a:prstGeom prst="rect">
            <a:avLst/>
          </a:prstGeom>
          <a:solidFill>
            <a:srgbClr val="E8E8E8"/>
          </a:solidFill>
          <a:ln/>
        </p:spPr>
        <p:txBody>
          <a:bodyPr/>
          <a:lstStyle/>
          <a:p>
            <a:endParaRPr lang="en-CN"/>
          </a:p>
        </p:txBody>
      </p:sp>
      <p:sp>
        <p:nvSpPr>
          <p:cNvPr id="31" name="Text 29"/>
          <p:cNvSpPr/>
          <p:nvPr/>
        </p:nvSpPr>
        <p:spPr>
          <a:xfrm>
            <a:off x="6995160" y="2377440"/>
            <a:ext cx="1783080" cy="137160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调度员分配子Agent</a:t>
            </a:r>
            <a:endParaRPr lang="en-US" sz="1000" dirty="0"/>
          </a:p>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并行执行无依赖任务</a:t>
            </a:r>
            <a:endParaRPr lang="en-US" sz="1000" dirty="0"/>
          </a:p>
          <a:p>
            <a:pPr marL="0" indent="0" algn="l">
              <a:lnSpc>
                <a:spcPct val="130000"/>
              </a:lnSpc>
              <a:buNone/>
            </a:pPr>
            <a:r>
              <a:rPr lang="en-US" sz="1000">
                <a:solidFill>
                  <a:srgbClr val="444444"/>
                </a:solidFill>
                <a:latin typeface="Microsoft YaHei" pitchFamily="34" charset="0"/>
                <a:ea typeface="Microsoft YaHei" pitchFamily="34" charset="-122"/>
                <a:cs typeface="Microsoft YaHei" pitchFamily="34" charset="-120"/>
              </a:rPr>
              <a:t>失败重试</a:t>
            </a:r>
            <a:endParaRPr lang="en-US" sz="1000" dirty="0"/>
          </a:p>
        </p:txBody>
      </p:sp>
      <p:sp>
        <p:nvSpPr>
          <p:cNvPr id="32" name="Shape 30"/>
          <p:cNvSpPr/>
          <p:nvPr/>
        </p:nvSpPr>
        <p:spPr>
          <a:xfrm>
            <a:off x="457200" y="4434840"/>
            <a:ext cx="8229600" cy="365760"/>
          </a:xfrm>
          <a:prstGeom prst="roundRect">
            <a:avLst>
              <a:gd name="adj" fmla="val 12500"/>
            </a:avLst>
          </a:prstGeom>
          <a:solidFill>
            <a:srgbClr val="E8F5E9"/>
          </a:solidFill>
          <a:ln/>
        </p:spPr>
        <p:txBody>
          <a:bodyPr/>
          <a:lstStyle/>
          <a:p>
            <a:endParaRPr lang="en-CN"/>
          </a:p>
        </p:txBody>
      </p:sp>
      <p:sp>
        <p:nvSpPr>
          <p:cNvPr id="33" name="Text 31"/>
          <p:cNvSpPr/>
          <p:nvPr/>
        </p:nvSpPr>
        <p:spPr>
          <a:xfrm>
            <a:off x="548640" y="4434840"/>
            <a:ext cx="8046720" cy="365760"/>
          </a:xfrm>
          <a:prstGeom prst="rect">
            <a:avLst/>
          </a:prstGeom>
          <a:noFill/>
          <a:ln/>
        </p:spPr>
        <p:txBody>
          <a:bodyPr wrap="square" rtlCol="0" anchor="ctr"/>
          <a:lstStyle/>
          <a:p>
            <a:pPr marL="0" indent="0" algn="ctr">
              <a:buNone/>
            </a:pPr>
            <a:r>
              <a:rPr lang="en-US" sz="1200" dirty="0">
                <a:solidFill>
                  <a:srgbClr val="2E7D32"/>
                </a:solidFill>
                <a:latin typeface="Microsoft YaHei" pitchFamily="34" charset="0"/>
                <a:ea typeface="Microsoft YaHei" pitchFamily="34" charset="-122"/>
                <a:cs typeface="Microsoft YaHei" pitchFamily="34" charset="-120"/>
              </a:rPr>
              <a:t>✅  + 验证测试：用真实需求检验每一步的产出</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00A4B4"/>
                </a:solidFill>
                <a:latin typeface="Microsoft YaHei" pitchFamily="34" charset="0"/>
                <a:ea typeface="Microsoft YaHei" pitchFamily="34" charset="-122"/>
                <a:cs typeface="Microsoft YaHei" pitchFamily="34" charset="-120"/>
              </a:rPr>
              <a:t>第一步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deepresearch — "先把功课做足"</a:t>
            </a:r>
            <a:endParaRPr lang="en-US" sz="2400" dirty="0"/>
          </a:p>
        </p:txBody>
      </p:sp>
      <p:sp>
        <p:nvSpPr>
          <p:cNvPr id="5" name="Text 3"/>
          <p:cNvSpPr/>
          <p:nvPr/>
        </p:nvSpPr>
        <p:spPr>
          <a:xfrm>
            <a:off x="731520" y="1097280"/>
            <a:ext cx="457200" cy="36576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6" name="Text 4"/>
          <p:cNvSpPr/>
          <p:nvPr/>
        </p:nvSpPr>
        <p:spPr>
          <a:xfrm>
            <a:off x="1188720" y="1097280"/>
            <a:ext cx="3657600" cy="365760"/>
          </a:xfrm>
          <a:prstGeom prst="rect">
            <a:avLst/>
          </a:prstGeom>
          <a:noFill/>
          <a:ln/>
        </p:spPr>
        <p:txBody>
          <a:bodyPr wrap="square" rtlCol="0" anchor="ctr"/>
          <a:lstStyle/>
          <a:p>
            <a:pPr marL="0" indent="0" algn="l">
              <a:buNone/>
            </a:pPr>
            <a:r>
              <a:rPr lang="en-US" sz="1600" b="1" dirty="0">
                <a:solidFill>
                  <a:srgbClr val="232F3E"/>
                </a:solidFill>
                <a:latin typeface="Microsoft YaHei" pitchFamily="34" charset="0"/>
                <a:ea typeface="Microsoft YaHei" pitchFamily="34" charset="-122"/>
                <a:cs typeface="Microsoft YaHei" pitchFamily="34" charset="-120"/>
              </a:rPr>
              <a:t>同时派出 5-8 个 AI Agent</a:t>
            </a:r>
            <a:endParaRPr lang="en-US" sz="1600" dirty="0"/>
          </a:p>
        </p:txBody>
      </p:sp>
      <p:sp>
        <p:nvSpPr>
          <p:cNvPr id="7" name="Shape 5"/>
          <p:cNvSpPr/>
          <p:nvPr/>
        </p:nvSpPr>
        <p:spPr>
          <a:xfrm>
            <a:off x="914400" y="1645920"/>
            <a:ext cx="1737360" cy="548640"/>
          </a:xfrm>
          <a:prstGeom prst="roundRect">
            <a:avLst>
              <a:gd name="adj" fmla="val 8333"/>
            </a:avLst>
          </a:prstGeom>
          <a:solidFill>
            <a:srgbClr val="F0F8FF"/>
          </a:solidFill>
          <a:ln w="12700">
            <a:solidFill>
              <a:srgbClr val="B0D4F1"/>
            </a:solidFill>
            <a:prstDash val="solid"/>
          </a:ln>
        </p:spPr>
        <p:txBody>
          <a:bodyPr/>
          <a:lstStyle/>
          <a:p>
            <a:endParaRPr lang="en-CN"/>
          </a:p>
        </p:txBody>
      </p:sp>
      <p:sp>
        <p:nvSpPr>
          <p:cNvPr id="8" name="Text 6"/>
          <p:cNvSpPr/>
          <p:nvPr/>
        </p:nvSpPr>
        <p:spPr>
          <a:xfrm>
            <a:off x="914400" y="1645920"/>
            <a:ext cx="1737360" cy="548640"/>
          </a:xfrm>
          <a:prstGeom prst="rect">
            <a:avLst/>
          </a:prstGeom>
          <a:noFill/>
          <a:ln/>
        </p:spPr>
        <p:txBody>
          <a:bodyPr wrap="square" rtlCol="0" anchor="ct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技术方案</a:t>
            </a:r>
            <a:endParaRPr lang="en-US" sz="1200" dirty="0"/>
          </a:p>
        </p:txBody>
      </p:sp>
      <p:sp>
        <p:nvSpPr>
          <p:cNvPr id="9" name="Shape 7"/>
          <p:cNvSpPr/>
          <p:nvPr/>
        </p:nvSpPr>
        <p:spPr>
          <a:xfrm>
            <a:off x="2926080" y="1645920"/>
            <a:ext cx="1737360" cy="548640"/>
          </a:xfrm>
          <a:prstGeom prst="roundRect">
            <a:avLst>
              <a:gd name="adj" fmla="val 8333"/>
            </a:avLst>
          </a:prstGeom>
          <a:solidFill>
            <a:srgbClr val="F0F8FF"/>
          </a:solidFill>
          <a:ln w="12700">
            <a:solidFill>
              <a:srgbClr val="B0D4F1"/>
            </a:solidFill>
            <a:prstDash val="solid"/>
          </a:ln>
        </p:spPr>
        <p:txBody>
          <a:bodyPr/>
          <a:lstStyle/>
          <a:p>
            <a:endParaRPr lang="en-CN"/>
          </a:p>
        </p:txBody>
      </p:sp>
      <p:sp>
        <p:nvSpPr>
          <p:cNvPr id="10" name="Text 8"/>
          <p:cNvSpPr/>
          <p:nvPr/>
        </p:nvSpPr>
        <p:spPr>
          <a:xfrm>
            <a:off x="2926080" y="1645920"/>
            <a:ext cx="1737360" cy="548640"/>
          </a:xfrm>
          <a:prstGeom prst="rect">
            <a:avLst/>
          </a:prstGeom>
          <a:noFill/>
          <a:ln/>
        </p:spPr>
        <p:txBody>
          <a:bodyPr wrap="square" rtlCol="0" anchor="ct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竞品分析</a:t>
            </a:r>
            <a:endParaRPr lang="en-US" sz="1200" dirty="0"/>
          </a:p>
        </p:txBody>
      </p:sp>
      <p:sp>
        <p:nvSpPr>
          <p:cNvPr id="11" name="Shape 9"/>
          <p:cNvSpPr/>
          <p:nvPr/>
        </p:nvSpPr>
        <p:spPr>
          <a:xfrm>
            <a:off x="4937760" y="1645920"/>
            <a:ext cx="1737360" cy="548640"/>
          </a:xfrm>
          <a:prstGeom prst="roundRect">
            <a:avLst>
              <a:gd name="adj" fmla="val 8333"/>
            </a:avLst>
          </a:prstGeom>
          <a:solidFill>
            <a:srgbClr val="F0F8FF"/>
          </a:solidFill>
          <a:ln w="12700">
            <a:solidFill>
              <a:srgbClr val="B0D4F1"/>
            </a:solidFill>
            <a:prstDash val="solid"/>
          </a:ln>
        </p:spPr>
        <p:txBody>
          <a:bodyPr/>
          <a:lstStyle/>
          <a:p>
            <a:endParaRPr lang="en-CN"/>
          </a:p>
        </p:txBody>
      </p:sp>
      <p:sp>
        <p:nvSpPr>
          <p:cNvPr id="12" name="Text 10"/>
          <p:cNvSpPr/>
          <p:nvPr/>
        </p:nvSpPr>
        <p:spPr>
          <a:xfrm>
            <a:off x="4937760" y="1645920"/>
            <a:ext cx="1737360" cy="548640"/>
          </a:xfrm>
          <a:prstGeom prst="rect">
            <a:avLst/>
          </a:prstGeom>
          <a:noFill/>
          <a:ln/>
        </p:spPr>
        <p:txBody>
          <a:bodyPr wrap="square" rtlCol="0" anchor="ct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用户需求</a:t>
            </a:r>
            <a:endParaRPr lang="en-US" sz="1200" dirty="0"/>
          </a:p>
        </p:txBody>
      </p:sp>
      <p:sp>
        <p:nvSpPr>
          <p:cNvPr id="13" name="Shape 11"/>
          <p:cNvSpPr/>
          <p:nvPr/>
        </p:nvSpPr>
        <p:spPr>
          <a:xfrm>
            <a:off x="6949440" y="1645920"/>
            <a:ext cx="1737360" cy="548640"/>
          </a:xfrm>
          <a:prstGeom prst="roundRect">
            <a:avLst>
              <a:gd name="adj" fmla="val 8333"/>
            </a:avLst>
          </a:prstGeom>
          <a:solidFill>
            <a:srgbClr val="F0F8FF"/>
          </a:solidFill>
          <a:ln w="12700">
            <a:solidFill>
              <a:srgbClr val="B0D4F1"/>
            </a:solidFill>
            <a:prstDash val="solid"/>
          </a:ln>
        </p:spPr>
        <p:txBody>
          <a:bodyPr/>
          <a:lstStyle/>
          <a:p>
            <a:endParaRPr lang="en-CN"/>
          </a:p>
        </p:txBody>
      </p:sp>
      <p:sp>
        <p:nvSpPr>
          <p:cNvPr id="14" name="Text 12"/>
          <p:cNvSpPr/>
          <p:nvPr/>
        </p:nvSpPr>
        <p:spPr>
          <a:xfrm>
            <a:off x="6949440" y="1645920"/>
            <a:ext cx="1737360" cy="548640"/>
          </a:xfrm>
          <a:prstGeom prst="rect">
            <a:avLst/>
          </a:prstGeom>
          <a:noFill/>
          <a:ln/>
        </p:spPr>
        <p:txBody>
          <a:bodyPr wrap="square" rtlCol="0" anchor="ct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行业报告</a:t>
            </a:r>
            <a:endParaRPr lang="en-US" sz="1200" dirty="0"/>
          </a:p>
        </p:txBody>
      </p:sp>
      <p:sp>
        <p:nvSpPr>
          <p:cNvPr id="15" name="Text 13"/>
          <p:cNvSpPr/>
          <p:nvPr/>
        </p:nvSpPr>
        <p:spPr>
          <a:xfrm>
            <a:off x="914400" y="2331720"/>
            <a:ext cx="7315200" cy="457200"/>
          </a:xfrm>
          <a:prstGeom prst="rect">
            <a:avLst/>
          </a:prstGeom>
          <a:noFill/>
          <a:ln/>
        </p:spPr>
        <p:txBody>
          <a:bodyPr wrap="square" rtlCol="0" anchor="ctr"/>
          <a:lstStyle/>
          <a:p>
            <a:pPr marL="0" indent="0" algn="l">
              <a:buNone/>
            </a:pPr>
            <a:r>
              <a:rPr lang="en-US" sz="1100" i="1" dirty="0">
                <a:solidFill>
                  <a:srgbClr val="888888"/>
                </a:solidFill>
                <a:latin typeface="Microsoft YaHei" pitchFamily="34" charset="0"/>
                <a:ea typeface="Microsoft YaHei" pitchFamily="34" charset="-122"/>
                <a:cs typeface="Microsoft YaHei" pitchFamily="34" charset="-120"/>
              </a:rPr>
              <a:t>就像你有一个 8 人调研团队</a:t>
            </a:r>
            <a:endParaRPr lang="en-US" sz="1100" dirty="0"/>
          </a:p>
          <a:p>
            <a:pPr marL="0" indent="0" algn="l">
              <a:buNone/>
            </a:pPr>
            <a:r>
              <a:rPr lang="en-US" sz="1100" i="1" dirty="0">
                <a:solidFill>
                  <a:srgbClr val="888888"/>
                </a:solidFill>
                <a:latin typeface="Microsoft YaHei" pitchFamily="34" charset="0"/>
                <a:ea typeface="Microsoft YaHei" pitchFamily="34" charset="-122"/>
                <a:cs typeface="Microsoft YaHei" pitchFamily="34" charset="-120"/>
              </a:rPr>
              <a:t>每个人分工不同，同时出发，同时回来汇报</a:t>
            </a:r>
            <a:endParaRPr lang="en-US" sz="1100" dirty="0"/>
          </a:p>
        </p:txBody>
      </p:sp>
      <p:sp>
        <p:nvSpPr>
          <p:cNvPr id="16" name="Shape 14"/>
          <p:cNvSpPr/>
          <p:nvPr/>
        </p:nvSpPr>
        <p:spPr>
          <a:xfrm>
            <a:off x="731520" y="2926080"/>
            <a:ext cx="3657600" cy="1645920"/>
          </a:xfrm>
          <a:prstGeom prst="roundRect">
            <a:avLst>
              <a:gd name="adj" fmla="val 4444"/>
            </a:avLst>
          </a:prstGeom>
          <a:solidFill>
            <a:srgbClr val="FFF8E1"/>
          </a:solidFill>
          <a:ln w="12700">
            <a:solidFill>
              <a:srgbClr val="FFE082"/>
            </a:solidFill>
            <a:prstDash val="solid"/>
          </a:ln>
        </p:spPr>
        <p:txBody>
          <a:bodyPr/>
          <a:lstStyle/>
          <a:p>
            <a:endParaRPr lang="en-CN"/>
          </a:p>
        </p:txBody>
      </p:sp>
      <p:sp>
        <p:nvSpPr>
          <p:cNvPr id="17" name="Text 15"/>
          <p:cNvSpPr/>
          <p:nvPr/>
        </p:nvSpPr>
        <p:spPr>
          <a:xfrm>
            <a:off x="868680" y="3017520"/>
            <a:ext cx="33832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  交叉验证</a:t>
            </a:r>
            <a:endParaRPr lang="en-US" sz="1400" dirty="0"/>
          </a:p>
        </p:txBody>
      </p:sp>
      <p:sp>
        <p:nvSpPr>
          <p:cNvPr id="18" name="Text 16"/>
          <p:cNvSpPr/>
          <p:nvPr/>
        </p:nvSpPr>
        <p:spPr>
          <a:xfrm>
            <a:off x="868680" y="3337560"/>
            <a:ext cx="3337560" cy="109728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8 个 Agent 查回来的结论，会互相比对。如果 6 个人都说"市面上没有工具支持 Element UI"，这个结论就是可信的。如果只有 1 个人说，那就标记为"待验证"。</a:t>
            </a:r>
            <a:endParaRPr lang="en-US" sz="1000" dirty="0"/>
          </a:p>
        </p:txBody>
      </p:sp>
      <p:sp>
        <p:nvSpPr>
          <p:cNvPr id="19" name="Shape 17"/>
          <p:cNvSpPr/>
          <p:nvPr/>
        </p:nvSpPr>
        <p:spPr>
          <a:xfrm>
            <a:off x="4754880" y="2926080"/>
            <a:ext cx="3657600" cy="1645920"/>
          </a:xfrm>
          <a:prstGeom prst="roundRect">
            <a:avLst>
              <a:gd name="adj" fmla="val 4444"/>
            </a:avLst>
          </a:prstGeom>
          <a:solidFill>
            <a:srgbClr val="F3E5F5"/>
          </a:solidFill>
          <a:ln w="12700">
            <a:solidFill>
              <a:srgbClr val="CE93D8"/>
            </a:solidFill>
            <a:prstDash val="solid"/>
          </a:ln>
        </p:spPr>
        <p:txBody>
          <a:bodyPr/>
          <a:lstStyle/>
          <a:p>
            <a:endParaRPr lang="en-CN"/>
          </a:p>
        </p:txBody>
      </p:sp>
      <p:sp>
        <p:nvSpPr>
          <p:cNvPr id="20" name="Text 18"/>
          <p:cNvSpPr/>
          <p:nvPr/>
        </p:nvSpPr>
        <p:spPr>
          <a:xfrm>
            <a:off x="4892040" y="3017520"/>
            <a:ext cx="33832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  Socratic 审查</a:t>
            </a:r>
            <a:endParaRPr lang="en-US" sz="1400" dirty="0"/>
          </a:p>
        </p:txBody>
      </p:sp>
      <p:sp>
        <p:nvSpPr>
          <p:cNvPr id="21" name="Text 19"/>
          <p:cNvSpPr/>
          <p:nvPr/>
        </p:nvSpPr>
        <p:spPr>
          <a:xfrm>
            <a:off x="4892040" y="3337560"/>
            <a:ext cx="3337560" cy="109728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专门的 Oracle Agent 会像苏格拉底一样，对所有结论提出质疑："你凭什么这么说？有没有反例？这个假设成立吗？"</a:t>
            </a:r>
            <a:endParaRPr lang="en-US" sz="1000" dirty="0"/>
          </a:p>
        </p:txBody>
      </p:sp>
      <p:sp>
        <p:nvSpPr>
          <p:cNvPr id="22" name="Text 20"/>
          <p:cNvSpPr/>
          <p:nvPr/>
        </p:nvSpPr>
        <p:spPr>
          <a:xfrm>
            <a:off x="731520" y="4663440"/>
            <a:ext cx="7680960" cy="274320"/>
          </a:xfrm>
          <a:prstGeom prst="rect">
            <a:avLst/>
          </a:prstGeom>
          <a:noFill/>
          <a:ln/>
        </p:spPr>
        <p:txBody>
          <a:bodyPr wrap="square" rtlCol="0" anchor="ctr"/>
          <a:lstStyle/>
          <a:p>
            <a:pPr marL="0" indent="0" algn="ctr">
              <a:buNone/>
            </a:pPr>
            <a:r>
              <a:rPr lang="en-US" sz="1100" dirty="0">
                <a:solidFill>
                  <a:srgbClr val="00A4B4"/>
                </a:solidFill>
                <a:latin typeface="Microsoft YaHei" pitchFamily="34" charset="0"/>
                <a:ea typeface="Microsoft YaHei" pitchFamily="34" charset="-122"/>
                <a:cs typeface="Microsoft YaHei" pitchFamily="34" charset="-120"/>
              </a:rPr>
              <a:t>最终输出一份研究报告，每个结论都有置信度标注。</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00A4B4"/>
                </a:solidFill>
                <a:latin typeface="Microsoft YaHei" pitchFamily="34" charset="0"/>
                <a:ea typeface="Microsoft YaHei" pitchFamily="34" charset="-122"/>
                <a:cs typeface="Microsoft YaHei" pitchFamily="34" charset="-120"/>
              </a:rPr>
              <a:t>第一步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deepresearch 的发现</a:t>
            </a:r>
            <a:endParaRPr lang="en-US" sz="2400" dirty="0"/>
          </a:p>
        </p:txBody>
      </p:sp>
      <p:sp>
        <p:nvSpPr>
          <p:cNvPr id="5" name="Text 3"/>
          <p:cNvSpPr/>
          <p:nvPr/>
        </p:nvSpPr>
        <p:spPr>
          <a:xfrm>
            <a:off x="731520" y="960120"/>
            <a:ext cx="7680960" cy="320040"/>
          </a:xfrm>
          <a:prstGeom prst="rect">
            <a:avLst/>
          </a:prstGeom>
          <a:noFill/>
          <a:ln/>
        </p:spPr>
        <p:txBody>
          <a:bodyPr wrap="square" rtlCol="0" anchor="ctr"/>
          <a:lstStyle/>
          <a:p>
            <a:pPr marL="0" indent="0" algn="l">
              <a:buNone/>
            </a:pPr>
            <a:r>
              <a:rPr lang="en-US" sz="1300" dirty="0">
                <a:solidFill>
                  <a:srgbClr val="888888"/>
                </a:solidFill>
                <a:latin typeface="Microsoft YaHei" pitchFamily="34" charset="0"/>
                <a:ea typeface="Microsoft YaHei" pitchFamily="34" charset="-122"/>
                <a:cs typeface="Microsoft YaHei" pitchFamily="34" charset="-120"/>
              </a:rPr>
              <a:t>竞品 AI 工具与 Element UI 支持对比</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164592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11480">
                <a:tc>
                  <a:txBody>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AI 工具</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232F3E"/>
                    </a:solidFill>
                  </a:tcPr>
                </a:tc>
                <a:tc>
                  <a:txBody>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支持 React</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232F3E"/>
                    </a:solidFill>
                  </a:tcPr>
                </a:tc>
                <a:tc>
                  <a:txBody>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支持 Tailwind</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232F3E"/>
                    </a:solidFill>
                  </a:tcPr>
                </a:tc>
                <a:tc>
                  <a:txBody>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支持 Element UI</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411480">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v0.dev</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CC3333"/>
                          </a:solidFill>
                          <a:latin typeface="Microsoft YaHei" pitchFamily="34" charset="0"/>
                          <a:ea typeface="Microsoft YaHei" pitchFamily="34" charset="-122"/>
                          <a:cs typeface="Microsoft YaHei" pitchFamily="34" charset="-120"/>
                        </a:rPr>
                        <a:t>❌ 不支持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Galileo AI</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CC3333"/>
                          </a:solidFill>
                          <a:latin typeface="Microsoft YaHei" pitchFamily="34" charset="0"/>
                          <a:ea typeface="Microsoft YaHei" pitchFamily="34" charset="-122"/>
                          <a:cs typeface="Microsoft YaHei" pitchFamily="34" charset="-120"/>
                        </a:rPr>
                        <a:t>❌ 不支持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Locofy</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232F3E"/>
                          </a:solidFill>
                          <a:latin typeface="Microsoft YaHei" pitchFamily="34" charset="0"/>
                          <a:ea typeface="Microsoft YaHei" pitchFamily="34" charset="-122"/>
                          <a:cs typeface="Microsoft YaHei" pitchFamily="34" charset="-120"/>
                        </a:rPr>
                        <a:t>✅ 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tc>
                  <a:txBody>
                    <a:bodyPr/>
                    <a:lstStyle/>
                    <a:p>
                      <a:pPr marL="0" indent="0" algn="ctr">
                        <a:buNone/>
                      </a:pPr>
                      <a:r>
                        <a:rPr lang="en-US" sz="1200" dirty="0">
                          <a:solidFill>
                            <a:srgbClr val="CC3333"/>
                          </a:solidFill>
                          <a:latin typeface="Microsoft YaHei" pitchFamily="34" charset="0"/>
                          <a:ea typeface="Microsoft YaHei" pitchFamily="34" charset="-122"/>
                          <a:cs typeface="Microsoft YaHei" pitchFamily="34" charset="-120"/>
                        </a:rPr>
                        <a:t>❌ 不支持</a:t>
                      </a:r>
                      <a:endParaRPr lang="en-US" sz="1200" dirty="0">
                        <a:latin typeface="Microsoft YaHei" charset="0"/>
                        <a:ea typeface="Microsoft YaHei" charset="0"/>
                        <a:cs typeface="Microsoft YaHei" charset="0"/>
                      </a:endParaRPr>
                    </a:p>
                  </a:txBody>
                  <a:tcPr anchor="ctr">
                    <a:lnL w="6350" cap="flat" cmpd="sng" algn="ctr">
                      <a:solidFill>
                        <a:srgbClr val="E8E8E8"/>
                      </a:solidFill>
                      <a:prstDash val="solid"/>
                      <a:round/>
                      <a:headEnd type="none" w="med" len="med"/>
                      <a:tailEnd type="none" w="med" len="med"/>
                    </a:lnL>
                    <a:lnR w="6350" cap="flat" cmpd="sng" algn="ctr">
                      <a:solidFill>
                        <a:srgbClr val="E8E8E8"/>
                      </a:solidFill>
                      <a:prstDash val="solid"/>
                      <a:round/>
                      <a:headEnd type="none" w="med" len="med"/>
                      <a:tailEnd type="none" w="med" len="med"/>
                    </a:lnR>
                    <a:lnT w="6350" cap="flat" cmpd="sng" algn="ctr">
                      <a:solidFill>
                        <a:srgbClr val="E8E8E8"/>
                      </a:solidFill>
                      <a:prstDash val="solid"/>
                      <a:round/>
                      <a:headEnd type="none" w="med" len="med"/>
                      <a:tailEnd type="none" w="med" len="med"/>
                    </a:lnT>
                    <a:lnB w="6350" cap="flat" cmpd="sng" algn="ctr">
                      <a:solidFill>
                        <a:srgbClr val="E8E8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731520" y="3200400"/>
            <a:ext cx="7680960" cy="731520"/>
          </a:xfrm>
          <a:prstGeom prst="roundRect">
            <a:avLst>
              <a:gd name="adj" fmla="val 10000"/>
            </a:avLst>
          </a:prstGeom>
          <a:solidFill>
            <a:srgbClr val="FFF3E0"/>
          </a:solidFill>
          <a:ln w="19050">
            <a:solidFill>
              <a:srgbClr val="FF9900"/>
            </a:solidFill>
            <a:prstDash val="solid"/>
          </a:ln>
        </p:spPr>
        <p:txBody>
          <a:bodyPr/>
          <a:lstStyle/>
          <a:p>
            <a:endParaRPr lang="en-CN"/>
          </a:p>
        </p:txBody>
      </p:sp>
      <p:sp>
        <p:nvSpPr>
          <p:cNvPr id="8" name="Text 5"/>
          <p:cNvSpPr/>
          <p:nvPr/>
        </p:nvSpPr>
        <p:spPr>
          <a:xfrm>
            <a:off x="914400" y="3246120"/>
            <a:ext cx="7315200" cy="320040"/>
          </a:xfrm>
          <a:prstGeom prst="rect">
            <a:avLst/>
          </a:prstGeom>
          <a:noFill/>
          <a:ln/>
        </p:spPr>
        <p:txBody>
          <a:bodyPr wrap="square" rtlCol="0" anchor="ctr"/>
          <a:lstStyle/>
          <a:p>
            <a:pPr marL="0" indent="0" algn="l">
              <a:buNone/>
            </a:pPr>
            <a:r>
              <a:rPr lang="en-US" sz="1600" b="1" dirty="0">
                <a:solidFill>
                  <a:srgbClr val="232F3E"/>
                </a:solidFill>
                <a:latin typeface="Microsoft YaHei" pitchFamily="34" charset="0"/>
                <a:ea typeface="Microsoft YaHei" pitchFamily="34" charset="-122"/>
                <a:cs typeface="Microsoft YaHei" pitchFamily="34" charset="-120"/>
              </a:rPr>
              <a:t>🎯  关键发现：明确的市场空白</a:t>
            </a:r>
            <a:endParaRPr lang="en-US" sz="1600" dirty="0"/>
          </a:p>
        </p:txBody>
      </p:sp>
      <p:sp>
        <p:nvSpPr>
          <p:cNvPr id="9" name="Text 6"/>
          <p:cNvSpPr/>
          <p:nvPr/>
        </p:nvSpPr>
        <p:spPr>
          <a:xfrm>
            <a:off x="914400" y="3566160"/>
            <a:ext cx="7315200" cy="320040"/>
          </a:xfrm>
          <a:prstGeom prst="rect">
            <a:avLst/>
          </a:prstGeom>
          <a:noFill/>
          <a:ln/>
        </p:spPr>
        <p:txBody>
          <a:bodyPr wrap="square" rtlCol="0" anchor="ctr"/>
          <a:lstStyle/>
          <a:p>
            <a:pPr marL="0" indent="0" algn="l">
              <a:buNone/>
            </a:pPr>
            <a:r>
              <a:rPr lang="en-US" sz="1200" dirty="0">
                <a:solidFill>
                  <a:srgbClr val="444444"/>
                </a:solidFill>
                <a:latin typeface="Microsoft YaHei" pitchFamily="34" charset="0"/>
                <a:ea typeface="Microsoft YaHei" pitchFamily="34" charset="-122"/>
                <a:cs typeface="Microsoft YaHei" pitchFamily="34" charset="-120"/>
              </a:rPr>
              <a:t>所有主流 AI 工具都不支持 Element UI。这是一个明确的市场空白。</a:t>
            </a:r>
            <a:endParaRPr lang="en-US" sz="1200" dirty="0"/>
          </a:p>
        </p:txBody>
      </p:sp>
      <p:sp>
        <p:nvSpPr>
          <p:cNvPr id="10" name="Shape 7"/>
          <p:cNvSpPr/>
          <p:nvPr/>
        </p:nvSpPr>
        <p:spPr>
          <a:xfrm>
            <a:off x="731520" y="4114800"/>
            <a:ext cx="7680960" cy="640080"/>
          </a:xfrm>
          <a:prstGeom prst="roundRect">
            <a:avLst>
              <a:gd name="adj" fmla="val 7143"/>
            </a:avLst>
          </a:prstGeom>
          <a:solidFill>
            <a:srgbClr val="E3F2FD"/>
          </a:solidFill>
          <a:ln/>
        </p:spPr>
        <p:txBody>
          <a:bodyPr/>
          <a:lstStyle/>
          <a:p>
            <a:endParaRPr lang="en-CN"/>
          </a:p>
        </p:txBody>
      </p:sp>
      <p:sp>
        <p:nvSpPr>
          <p:cNvPr id="11" name="Text 8"/>
          <p:cNvSpPr/>
          <p:nvPr/>
        </p:nvSpPr>
        <p:spPr>
          <a:xfrm>
            <a:off x="914400" y="4114800"/>
            <a:ext cx="7315200" cy="640080"/>
          </a:xfrm>
          <a:prstGeom prst="rect">
            <a:avLst/>
          </a:prstGeom>
          <a:noFill/>
          <a:ln/>
        </p:spPr>
        <p:txBody>
          <a:bodyPr wrap="square" rtlCol="0" anchor="ctr"/>
          <a:lstStyle/>
          <a:p>
            <a:pPr marL="0" indent="0" algn="ctr">
              <a:buNone/>
            </a:pPr>
            <a:r>
              <a:rPr lang="en-US" sz="1200" dirty="0">
                <a:solidFill>
                  <a:srgbClr val="1565C0"/>
                </a:solidFill>
                <a:latin typeface="Microsoft YaHei" pitchFamily="34" charset="0"/>
                <a:ea typeface="Microsoft YaHei" pitchFamily="34" charset="-122"/>
                <a:cs typeface="Microsoft YaHei" pitchFamily="34" charset="-120"/>
              </a:rPr>
              <a:t>💡  这个结论是 7 个 Agent 并行研究、交叉验证之后得出的，不是拍脑袋想的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FF9900"/>
                </a:solidFill>
                <a:latin typeface="Microsoft YaHei" pitchFamily="34" charset="0"/>
                <a:ea typeface="Microsoft YaHei" pitchFamily="34" charset="-122"/>
                <a:cs typeface="Microsoft YaHei" pitchFamily="34" charset="-120"/>
              </a:rPr>
              <a:t>第二步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brainstorm — "把想法变成决策"</a:t>
            </a:r>
            <a:endParaRPr lang="en-US" sz="2400" dirty="0"/>
          </a:p>
        </p:txBody>
      </p:sp>
      <p:sp>
        <p:nvSpPr>
          <p:cNvPr id="5" name="Text 3"/>
          <p:cNvSpPr/>
          <p:nvPr/>
        </p:nvSpPr>
        <p:spPr>
          <a:xfrm>
            <a:off x="731520" y="960120"/>
            <a:ext cx="7680960" cy="320040"/>
          </a:xfrm>
          <a:prstGeom prst="rect">
            <a:avLst/>
          </a:prstGeom>
          <a:noFill/>
          <a:ln/>
        </p:spPr>
        <p:txBody>
          <a:bodyPr wrap="square" rtlCol="0" anchor="ctr"/>
          <a:lstStyle/>
          <a:p>
            <a:pPr marL="0" indent="0" algn="l">
              <a:buNone/>
            </a:pPr>
            <a:r>
              <a:rPr lang="en-US" sz="1300" dirty="0">
                <a:solidFill>
                  <a:srgbClr val="888888"/>
                </a:solidFill>
                <a:latin typeface="Microsoft YaHei" pitchFamily="34" charset="0"/>
                <a:ea typeface="Microsoft YaHei" pitchFamily="34" charset="-122"/>
                <a:cs typeface="Microsoft YaHei" pitchFamily="34" charset="-120"/>
              </a:rPr>
              <a:t>核心问题：研究报告告诉你"能做什么"，但不告诉你"应该做什么"</a:t>
            </a:r>
            <a:endParaRPr lang="en-US" sz="1300" dirty="0"/>
          </a:p>
        </p:txBody>
      </p:sp>
      <p:sp>
        <p:nvSpPr>
          <p:cNvPr id="6" name="Text 4"/>
          <p:cNvSpPr/>
          <p:nvPr/>
        </p:nvSpPr>
        <p:spPr>
          <a:xfrm>
            <a:off x="731520" y="1371600"/>
            <a:ext cx="365760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工作方式：一次只问一个问题</a:t>
            </a:r>
            <a:endParaRPr lang="en-US" sz="1400" dirty="0"/>
          </a:p>
        </p:txBody>
      </p:sp>
      <p:sp>
        <p:nvSpPr>
          <p:cNvPr id="7" name="Shape 5"/>
          <p:cNvSpPr/>
          <p:nvPr/>
        </p:nvSpPr>
        <p:spPr>
          <a:xfrm>
            <a:off x="914400" y="1828800"/>
            <a:ext cx="3200400" cy="411480"/>
          </a:xfrm>
          <a:prstGeom prst="roundRect">
            <a:avLst>
              <a:gd name="adj" fmla="val 22222"/>
            </a:avLst>
          </a:prstGeom>
          <a:solidFill>
            <a:srgbClr val="E3F2FD"/>
          </a:solidFill>
          <a:ln/>
        </p:spPr>
        <p:txBody>
          <a:bodyPr/>
          <a:lstStyle/>
          <a:p>
            <a:endParaRPr lang="en-CN"/>
          </a:p>
        </p:txBody>
      </p:sp>
      <p:sp>
        <p:nvSpPr>
          <p:cNvPr id="8" name="Text 6"/>
          <p:cNvSpPr/>
          <p:nvPr/>
        </p:nvSpPr>
        <p:spPr>
          <a:xfrm>
            <a:off x="1005840" y="1828800"/>
            <a:ext cx="3017520" cy="411480"/>
          </a:xfrm>
          <a:prstGeom prst="rect">
            <a:avLst/>
          </a:prstGeom>
          <a:noFill/>
          <a:ln/>
        </p:spPr>
        <p:txBody>
          <a:bodyPr wrap="square" rtlCol="0" anchor="ctr"/>
          <a:lstStyle/>
          <a:p>
            <a:pPr marL="0" indent="0" algn="l">
              <a:buNone/>
            </a:pPr>
            <a:r>
              <a:rPr lang="en-US" sz="1100" dirty="0">
                <a:solidFill>
                  <a:srgbClr val="1565C0"/>
                </a:solidFill>
                <a:latin typeface="Microsoft YaHei" pitchFamily="34" charset="0"/>
                <a:ea typeface="Microsoft YaHei" pitchFamily="34" charset="-122"/>
                <a:cs typeface="Microsoft YaHei" pitchFamily="34" charset="-120"/>
              </a:rPr>
              <a:t>🤖 主要用户是谁？</a:t>
            </a:r>
            <a:endParaRPr lang="en-US" sz="1100" dirty="0"/>
          </a:p>
        </p:txBody>
      </p:sp>
      <p:sp>
        <p:nvSpPr>
          <p:cNvPr id="9" name="Shape 7"/>
          <p:cNvSpPr/>
          <p:nvPr/>
        </p:nvSpPr>
        <p:spPr>
          <a:xfrm>
            <a:off x="2743200" y="1847088"/>
            <a:ext cx="1828800" cy="374904"/>
          </a:xfrm>
          <a:prstGeom prst="roundRect">
            <a:avLst>
              <a:gd name="adj" fmla="val 24390"/>
            </a:avLst>
          </a:prstGeom>
          <a:solidFill>
            <a:srgbClr val="FFF3E0"/>
          </a:solidFill>
          <a:ln/>
        </p:spPr>
        <p:txBody>
          <a:bodyPr/>
          <a:lstStyle/>
          <a:p>
            <a:endParaRPr lang="en-CN"/>
          </a:p>
        </p:txBody>
      </p:sp>
      <p:sp>
        <p:nvSpPr>
          <p:cNvPr id="10" name="Text 8"/>
          <p:cNvSpPr/>
          <p:nvPr/>
        </p:nvSpPr>
        <p:spPr>
          <a:xfrm>
            <a:off x="2834640" y="1847088"/>
            <a:ext cx="1645920" cy="374904"/>
          </a:xfrm>
          <a:prstGeom prst="rect">
            <a:avLst/>
          </a:prstGeom>
          <a:noFill/>
          <a:ln/>
        </p:spPr>
        <p:txBody>
          <a:bodyPr wrap="square" rtlCol="0" anchor="ctr"/>
          <a:lstStyle/>
          <a:p>
            <a:pPr marL="0" indent="0" algn="l">
              <a:buNone/>
            </a:pPr>
            <a:r>
              <a:rPr lang="en-US" sz="1100" dirty="0">
                <a:solidFill>
                  <a:srgbClr val="E65100"/>
                </a:solidFill>
                <a:latin typeface="Microsoft YaHei" pitchFamily="34" charset="0"/>
                <a:ea typeface="Microsoft YaHei" pitchFamily="34" charset="-122"/>
                <a:cs typeface="Microsoft YaHei" pitchFamily="34" charset="-120"/>
              </a:rPr>
              <a:t>👤 → PM</a:t>
            </a:r>
            <a:endParaRPr lang="en-US" sz="1100" dirty="0"/>
          </a:p>
        </p:txBody>
      </p:sp>
      <p:sp>
        <p:nvSpPr>
          <p:cNvPr id="11" name="Shape 9"/>
          <p:cNvSpPr/>
          <p:nvPr/>
        </p:nvSpPr>
        <p:spPr>
          <a:xfrm>
            <a:off x="914400" y="2423160"/>
            <a:ext cx="3200400" cy="411480"/>
          </a:xfrm>
          <a:prstGeom prst="roundRect">
            <a:avLst>
              <a:gd name="adj" fmla="val 22222"/>
            </a:avLst>
          </a:prstGeom>
          <a:solidFill>
            <a:srgbClr val="E3F2FD"/>
          </a:solidFill>
          <a:ln/>
        </p:spPr>
        <p:txBody>
          <a:bodyPr/>
          <a:lstStyle/>
          <a:p>
            <a:endParaRPr lang="en-CN"/>
          </a:p>
        </p:txBody>
      </p:sp>
      <p:sp>
        <p:nvSpPr>
          <p:cNvPr id="12" name="Text 10"/>
          <p:cNvSpPr/>
          <p:nvPr/>
        </p:nvSpPr>
        <p:spPr>
          <a:xfrm>
            <a:off x="1005840" y="2423160"/>
            <a:ext cx="3017520" cy="411480"/>
          </a:xfrm>
          <a:prstGeom prst="rect">
            <a:avLst/>
          </a:prstGeom>
          <a:noFill/>
          <a:ln/>
        </p:spPr>
        <p:txBody>
          <a:bodyPr wrap="square" rtlCol="0" anchor="ctr"/>
          <a:lstStyle/>
          <a:p>
            <a:pPr marL="0" indent="0" algn="l">
              <a:buNone/>
            </a:pPr>
            <a:r>
              <a:rPr lang="en-US" sz="1100" dirty="0">
                <a:solidFill>
                  <a:srgbClr val="1565C0"/>
                </a:solidFill>
                <a:latin typeface="Microsoft YaHei" pitchFamily="34" charset="0"/>
                <a:ea typeface="Microsoft YaHei" pitchFamily="34" charset="-122"/>
                <a:cs typeface="Microsoft YaHei" pitchFamily="34" charset="-120"/>
              </a:rPr>
              <a:t>🤖 成功标准是什么？</a:t>
            </a:r>
            <a:endParaRPr lang="en-US" sz="1100" dirty="0"/>
          </a:p>
        </p:txBody>
      </p:sp>
      <p:sp>
        <p:nvSpPr>
          <p:cNvPr id="13" name="Shape 11"/>
          <p:cNvSpPr/>
          <p:nvPr/>
        </p:nvSpPr>
        <p:spPr>
          <a:xfrm>
            <a:off x="2743200" y="2441448"/>
            <a:ext cx="1828800" cy="374904"/>
          </a:xfrm>
          <a:prstGeom prst="roundRect">
            <a:avLst>
              <a:gd name="adj" fmla="val 24390"/>
            </a:avLst>
          </a:prstGeom>
          <a:solidFill>
            <a:srgbClr val="FFF3E0"/>
          </a:solidFill>
          <a:ln/>
        </p:spPr>
        <p:txBody>
          <a:bodyPr/>
          <a:lstStyle/>
          <a:p>
            <a:endParaRPr lang="en-CN"/>
          </a:p>
        </p:txBody>
      </p:sp>
      <p:sp>
        <p:nvSpPr>
          <p:cNvPr id="14" name="Text 12"/>
          <p:cNvSpPr/>
          <p:nvPr/>
        </p:nvSpPr>
        <p:spPr>
          <a:xfrm>
            <a:off x="2834640" y="2441448"/>
            <a:ext cx="1645920" cy="374904"/>
          </a:xfrm>
          <a:prstGeom prst="rect">
            <a:avLst/>
          </a:prstGeom>
          <a:noFill/>
          <a:ln/>
        </p:spPr>
        <p:txBody>
          <a:bodyPr wrap="square" rtlCol="0" anchor="ctr"/>
          <a:lstStyle/>
          <a:p>
            <a:pPr marL="0" indent="0" algn="l">
              <a:buNone/>
            </a:pPr>
            <a:r>
              <a:rPr lang="en-US" sz="1100" dirty="0">
                <a:solidFill>
                  <a:srgbClr val="E65100"/>
                </a:solidFill>
                <a:latin typeface="Microsoft YaHei" pitchFamily="34" charset="0"/>
                <a:ea typeface="Microsoft YaHei" pitchFamily="34" charset="-122"/>
                <a:cs typeface="Microsoft YaHei" pitchFamily="34" charset="-120"/>
              </a:rPr>
              <a:t>👤 → 5分钟出DEMO</a:t>
            </a:r>
            <a:endParaRPr lang="en-US" sz="1100" dirty="0"/>
          </a:p>
        </p:txBody>
      </p:sp>
      <p:sp>
        <p:nvSpPr>
          <p:cNvPr id="15" name="Shape 13"/>
          <p:cNvSpPr/>
          <p:nvPr/>
        </p:nvSpPr>
        <p:spPr>
          <a:xfrm>
            <a:off x="914400" y="3017520"/>
            <a:ext cx="3200400" cy="411480"/>
          </a:xfrm>
          <a:prstGeom prst="roundRect">
            <a:avLst>
              <a:gd name="adj" fmla="val 22222"/>
            </a:avLst>
          </a:prstGeom>
          <a:solidFill>
            <a:srgbClr val="E3F2FD"/>
          </a:solidFill>
          <a:ln/>
        </p:spPr>
        <p:txBody>
          <a:bodyPr/>
          <a:lstStyle/>
          <a:p>
            <a:endParaRPr lang="en-CN"/>
          </a:p>
        </p:txBody>
      </p:sp>
      <p:sp>
        <p:nvSpPr>
          <p:cNvPr id="16" name="Text 14"/>
          <p:cNvSpPr/>
          <p:nvPr/>
        </p:nvSpPr>
        <p:spPr>
          <a:xfrm>
            <a:off x="1005840" y="3017520"/>
            <a:ext cx="3017520" cy="411480"/>
          </a:xfrm>
          <a:prstGeom prst="rect">
            <a:avLst/>
          </a:prstGeom>
          <a:noFill/>
          <a:ln/>
        </p:spPr>
        <p:txBody>
          <a:bodyPr wrap="square" rtlCol="0" anchor="ctr"/>
          <a:lstStyle/>
          <a:p>
            <a:pPr marL="0" indent="0" algn="l">
              <a:buNone/>
            </a:pPr>
            <a:r>
              <a:rPr lang="en-US" sz="1100" dirty="0">
                <a:solidFill>
                  <a:srgbClr val="1565C0"/>
                </a:solidFill>
                <a:latin typeface="Microsoft YaHei" pitchFamily="34" charset="0"/>
                <a:ea typeface="Microsoft YaHei" pitchFamily="34" charset="-122"/>
                <a:cs typeface="Microsoft YaHei" pitchFamily="34" charset="-120"/>
              </a:rPr>
              <a:t>🤖 第一版支持哪种页面？</a:t>
            </a:r>
            <a:endParaRPr lang="en-US" sz="1100" dirty="0"/>
          </a:p>
        </p:txBody>
      </p:sp>
      <p:sp>
        <p:nvSpPr>
          <p:cNvPr id="17" name="Shape 15"/>
          <p:cNvSpPr/>
          <p:nvPr/>
        </p:nvSpPr>
        <p:spPr>
          <a:xfrm>
            <a:off x="2743200" y="3035808"/>
            <a:ext cx="1828800" cy="374904"/>
          </a:xfrm>
          <a:prstGeom prst="roundRect">
            <a:avLst>
              <a:gd name="adj" fmla="val 24390"/>
            </a:avLst>
          </a:prstGeom>
          <a:solidFill>
            <a:srgbClr val="FFF3E0"/>
          </a:solidFill>
          <a:ln/>
        </p:spPr>
        <p:txBody>
          <a:bodyPr/>
          <a:lstStyle/>
          <a:p>
            <a:endParaRPr lang="en-CN"/>
          </a:p>
        </p:txBody>
      </p:sp>
      <p:sp>
        <p:nvSpPr>
          <p:cNvPr id="18" name="Text 16"/>
          <p:cNvSpPr/>
          <p:nvPr/>
        </p:nvSpPr>
        <p:spPr>
          <a:xfrm>
            <a:off x="2834640" y="3035808"/>
            <a:ext cx="1645920" cy="374904"/>
          </a:xfrm>
          <a:prstGeom prst="rect">
            <a:avLst/>
          </a:prstGeom>
          <a:noFill/>
          <a:ln/>
        </p:spPr>
        <p:txBody>
          <a:bodyPr wrap="square" rtlCol="0" anchor="ctr"/>
          <a:lstStyle/>
          <a:p>
            <a:pPr marL="0" indent="0" algn="l">
              <a:buNone/>
            </a:pPr>
            <a:r>
              <a:rPr lang="en-US" sz="1100" dirty="0">
                <a:solidFill>
                  <a:srgbClr val="E65100"/>
                </a:solidFill>
                <a:latin typeface="Microsoft YaHei" pitchFamily="34" charset="0"/>
                <a:ea typeface="Microsoft YaHei" pitchFamily="34" charset="-122"/>
                <a:cs typeface="Microsoft YaHei" pitchFamily="34" charset="-120"/>
              </a:rPr>
              <a:t>👤 → CRUD列表页</a:t>
            </a:r>
            <a:endParaRPr lang="en-US" sz="1100" dirty="0"/>
          </a:p>
        </p:txBody>
      </p:sp>
      <p:sp>
        <p:nvSpPr>
          <p:cNvPr id="19" name="Text 17"/>
          <p:cNvSpPr/>
          <p:nvPr/>
        </p:nvSpPr>
        <p:spPr>
          <a:xfrm>
            <a:off x="5303520" y="1371600"/>
            <a:ext cx="320040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为什么这样设计？</a:t>
            </a:r>
            <a:endParaRPr lang="en-US" sz="1400" dirty="0"/>
          </a:p>
        </p:txBody>
      </p:sp>
      <p:sp>
        <p:nvSpPr>
          <p:cNvPr id="20" name="Shape 18"/>
          <p:cNvSpPr/>
          <p:nvPr/>
        </p:nvSpPr>
        <p:spPr>
          <a:xfrm>
            <a:off x="5303520" y="1828800"/>
            <a:ext cx="3200400" cy="640080"/>
          </a:xfrm>
          <a:prstGeom prst="roundRect">
            <a:avLst>
              <a:gd name="adj" fmla="val 7143"/>
            </a:avLst>
          </a:prstGeom>
          <a:solidFill>
            <a:srgbClr val="F5F5F5"/>
          </a:solidFill>
          <a:ln/>
        </p:spPr>
        <p:txBody>
          <a:bodyPr/>
          <a:lstStyle/>
          <a:p>
            <a:endParaRPr lang="en-CN"/>
          </a:p>
        </p:txBody>
      </p:sp>
      <p:sp>
        <p:nvSpPr>
          <p:cNvPr id="21" name="Text 19"/>
          <p:cNvSpPr/>
          <p:nvPr/>
        </p:nvSpPr>
        <p:spPr>
          <a:xfrm>
            <a:off x="5394960" y="187452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2" name="Text 20"/>
          <p:cNvSpPr/>
          <p:nvPr/>
        </p:nvSpPr>
        <p:spPr>
          <a:xfrm>
            <a:off x="5760720" y="1874520"/>
            <a:ext cx="256032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避免信息过载</a:t>
            </a:r>
            <a:endParaRPr lang="en-US" sz="1100" dirty="0"/>
          </a:p>
        </p:txBody>
      </p:sp>
      <p:sp>
        <p:nvSpPr>
          <p:cNvPr id="23" name="Text 21"/>
          <p:cNvSpPr/>
          <p:nvPr/>
        </p:nvSpPr>
        <p:spPr>
          <a:xfrm>
            <a:off x="5760720" y="2148840"/>
            <a:ext cx="2560320" cy="274320"/>
          </a:xfrm>
          <a:prstGeom prst="rect">
            <a:avLst/>
          </a:prstGeom>
          <a:noFill/>
          <a:ln/>
        </p:spPr>
        <p:txBody>
          <a:bodyPr wrap="square" rtlCol="0" anchor="ctr"/>
          <a:lstStyle/>
          <a:p>
            <a:pPr marL="0" indent="0" algn="l">
              <a:buNone/>
            </a:pPr>
            <a:r>
              <a:rPr lang="en-US" sz="1000" dirty="0">
                <a:solidFill>
                  <a:srgbClr val="444444"/>
                </a:solidFill>
                <a:latin typeface="Microsoft YaHei" pitchFamily="34" charset="0"/>
                <a:ea typeface="Microsoft YaHei" pitchFamily="34" charset="-122"/>
                <a:cs typeface="Microsoft YaHei" pitchFamily="34" charset="-120"/>
              </a:rPr>
              <a:t>一次问10个问题，你往往只回答最后一个</a:t>
            </a:r>
            <a:endParaRPr lang="en-US" sz="1000" dirty="0"/>
          </a:p>
        </p:txBody>
      </p:sp>
      <p:sp>
        <p:nvSpPr>
          <p:cNvPr id="24" name="Shape 22"/>
          <p:cNvSpPr/>
          <p:nvPr/>
        </p:nvSpPr>
        <p:spPr>
          <a:xfrm>
            <a:off x="5303520" y="2606040"/>
            <a:ext cx="3200400" cy="640080"/>
          </a:xfrm>
          <a:prstGeom prst="roundRect">
            <a:avLst>
              <a:gd name="adj" fmla="val 7143"/>
            </a:avLst>
          </a:prstGeom>
          <a:solidFill>
            <a:srgbClr val="F5F5F5"/>
          </a:solidFill>
          <a:ln/>
        </p:spPr>
        <p:txBody>
          <a:bodyPr/>
          <a:lstStyle/>
          <a:p>
            <a:endParaRPr lang="en-CN"/>
          </a:p>
        </p:txBody>
      </p:sp>
      <p:sp>
        <p:nvSpPr>
          <p:cNvPr id="25" name="Text 23"/>
          <p:cNvSpPr/>
          <p:nvPr/>
        </p:nvSpPr>
        <p:spPr>
          <a:xfrm>
            <a:off x="5394960" y="265176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5760720" y="2651760"/>
            <a:ext cx="256032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强迫认真思考</a:t>
            </a:r>
            <a:endParaRPr lang="en-US" sz="1100" dirty="0"/>
          </a:p>
        </p:txBody>
      </p:sp>
      <p:sp>
        <p:nvSpPr>
          <p:cNvPr id="27" name="Text 25"/>
          <p:cNvSpPr/>
          <p:nvPr/>
        </p:nvSpPr>
        <p:spPr>
          <a:xfrm>
            <a:off x="5760720" y="2926080"/>
            <a:ext cx="2560320" cy="274320"/>
          </a:xfrm>
          <a:prstGeom prst="rect">
            <a:avLst/>
          </a:prstGeom>
          <a:noFill/>
          <a:ln/>
        </p:spPr>
        <p:txBody>
          <a:bodyPr wrap="square" rtlCol="0" anchor="ctr"/>
          <a:lstStyle/>
          <a:p>
            <a:pPr marL="0" indent="0" algn="l">
              <a:buNone/>
            </a:pPr>
            <a:r>
              <a:rPr lang="en-US" sz="1000" dirty="0">
                <a:solidFill>
                  <a:srgbClr val="444444"/>
                </a:solidFill>
                <a:latin typeface="Microsoft YaHei" pitchFamily="34" charset="0"/>
                <a:ea typeface="Microsoft YaHei" pitchFamily="34" charset="-122"/>
                <a:cs typeface="Microsoft YaHei" pitchFamily="34" charset="-120"/>
              </a:rPr>
              <a:t>每个决策都需要你停下来想清楚</a:t>
            </a:r>
            <a:endParaRPr lang="en-US" sz="1000" dirty="0"/>
          </a:p>
        </p:txBody>
      </p:sp>
      <p:sp>
        <p:nvSpPr>
          <p:cNvPr id="28" name="Shape 26"/>
          <p:cNvSpPr/>
          <p:nvPr/>
        </p:nvSpPr>
        <p:spPr>
          <a:xfrm>
            <a:off x="5303520" y="3383280"/>
            <a:ext cx="3200400" cy="640080"/>
          </a:xfrm>
          <a:prstGeom prst="roundRect">
            <a:avLst>
              <a:gd name="adj" fmla="val 7143"/>
            </a:avLst>
          </a:prstGeom>
          <a:solidFill>
            <a:srgbClr val="F5F5F5"/>
          </a:solidFill>
          <a:ln/>
        </p:spPr>
        <p:txBody>
          <a:bodyPr/>
          <a:lstStyle/>
          <a:p>
            <a:endParaRPr lang="en-CN"/>
          </a:p>
        </p:txBody>
      </p:sp>
      <p:sp>
        <p:nvSpPr>
          <p:cNvPr id="29" name="Text 27"/>
          <p:cNvSpPr/>
          <p:nvPr/>
        </p:nvSpPr>
        <p:spPr>
          <a:xfrm>
            <a:off x="5394960" y="3429000"/>
            <a:ext cx="365760" cy="36576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0" name="Text 28"/>
          <p:cNvSpPr/>
          <p:nvPr/>
        </p:nvSpPr>
        <p:spPr>
          <a:xfrm>
            <a:off x="5760720" y="3429000"/>
            <a:ext cx="256032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决策可追溯</a:t>
            </a:r>
            <a:endParaRPr lang="en-US" sz="1100" dirty="0"/>
          </a:p>
        </p:txBody>
      </p:sp>
      <p:sp>
        <p:nvSpPr>
          <p:cNvPr id="31" name="Text 29"/>
          <p:cNvSpPr/>
          <p:nvPr/>
        </p:nvSpPr>
        <p:spPr>
          <a:xfrm>
            <a:off x="5760720" y="3703320"/>
            <a:ext cx="2560320" cy="274320"/>
          </a:xfrm>
          <a:prstGeom prst="rect">
            <a:avLst/>
          </a:prstGeom>
          <a:noFill/>
          <a:ln/>
        </p:spPr>
        <p:txBody>
          <a:bodyPr wrap="square" rtlCol="0" anchor="ctr"/>
          <a:lstStyle/>
          <a:p>
            <a:pPr marL="0" indent="0" algn="l">
              <a:buNone/>
            </a:pPr>
            <a:r>
              <a:rPr lang="en-US" sz="1000" dirty="0">
                <a:solidFill>
                  <a:srgbClr val="444444"/>
                </a:solidFill>
                <a:latin typeface="Microsoft YaHei" pitchFamily="34" charset="0"/>
                <a:ea typeface="Microsoft YaHei" pitchFamily="34" charset="-122"/>
                <a:cs typeface="Microsoft YaHei" pitchFamily="34" charset="-120"/>
              </a:rPr>
              <a:t>每一条需求都能追溯到你的某个回答</a:t>
            </a:r>
            <a:endParaRPr lang="en-US" sz="1000" dirty="0"/>
          </a:p>
        </p:txBody>
      </p:sp>
      <p:sp>
        <p:nvSpPr>
          <p:cNvPr id="32" name="Shape 30"/>
          <p:cNvSpPr/>
          <p:nvPr/>
        </p:nvSpPr>
        <p:spPr>
          <a:xfrm>
            <a:off x="731520" y="4206240"/>
            <a:ext cx="7680960" cy="548640"/>
          </a:xfrm>
          <a:prstGeom prst="roundRect">
            <a:avLst>
              <a:gd name="adj" fmla="val 8333"/>
            </a:avLst>
          </a:prstGeom>
          <a:solidFill>
            <a:srgbClr val="FCE4EC"/>
          </a:solidFill>
          <a:ln/>
        </p:spPr>
        <p:txBody>
          <a:bodyPr/>
          <a:lstStyle/>
          <a:p>
            <a:endParaRPr lang="en-CN"/>
          </a:p>
        </p:txBody>
      </p:sp>
      <p:sp>
        <p:nvSpPr>
          <p:cNvPr id="33" name="Text 31"/>
          <p:cNvSpPr/>
          <p:nvPr/>
        </p:nvSpPr>
        <p:spPr>
          <a:xfrm>
            <a:off x="914400" y="4206240"/>
            <a:ext cx="7315200" cy="548640"/>
          </a:xfrm>
          <a:prstGeom prst="rect">
            <a:avLst/>
          </a:prstGeom>
          <a:noFill/>
          <a:ln/>
        </p:spPr>
        <p:txBody>
          <a:bodyPr wrap="square" rtlCol="0" anchor="ctr"/>
          <a:lstStyle/>
          <a:p>
            <a:pPr marL="0" indent="0" algn="ctr">
              <a:buNone/>
            </a:pPr>
            <a:r>
              <a:rPr lang="en-US" sz="1200" dirty="0">
                <a:solidFill>
                  <a:srgbClr val="C62828"/>
                </a:solidFill>
                <a:latin typeface="Microsoft YaHei" pitchFamily="34" charset="0"/>
                <a:ea typeface="Microsoft YaHei" pitchFamily="34" charset="-122"/>
                <a:cs typeface="Microsoft YaHei" pitchFamily="34" charset="-120"/>
              </a:rPr>
              <a:t>🛡️  最后还有 Oracle 对抗审查 —— 扮演挑剔的审查者，专门找 PRD 里的漏洞</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FF9900"/>
                </a:solidFill>
                <a:latin typeface="Microsoft YaHei" pitchFamily="34" charset="0"/>
                <a:ea typeface="Microsoft YaHei" pitchFamily="34" charset="-122"/>
                <a:cs typeface="Microsoft YaHei" pitchFamily="34" charset="-120"/>
              </a:rPr>
              <a:t>第二步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5 个问题，5 个决策</a:t>
            </a:r>
            <a:endParaRPr lang="en-US" sz="2400" dirty="0"/>
          </a:p>
        </p:txBody>
      </p:sp>
      <p:sp>
        <p:nvSpPr>
          <p:cNvPr id="5" name="Shape 3"/>
          <p:cNvSpPr/>
          <p:nvPr/>
        </p:nvSpPr>
        <p:spPr>
          <a:xfrm>
            <a:off x="457200" y="1005840"/>
            <a:ext cx="2560320" cy="1554480"/>
          </a:xfrm>
          <a:prstGeom prst="roundRect">
            <a:avLst>
              <a:gd name="adj" fmla="val 4706"/>
            </a:avLst>
          </a:prstGeom>
          <a:solidFill>
            <a:srgbClr val="F5F5F5"/>
          </a:solidFill>
          <a:ln w="12700">
            <a:solidFill>
              <a:srgbClr val="E8E8E8"/>
            </a:solidFill>
            <a:prstDash val="solid"/>
          </a:ln>
        </p:spPr>
        <p:txBody>
          <a:bodyPr/>
          <a:lstStyle/>
          <a:p>
            <a:endParaRPr lang="en-CN"/>
          </a:p>
        </p:txBody>
      </p:sp>
      <p:sp>
        <p:nvSpPr>
          <p:cNvPr id="6" name="Shape 4"/>
          <p:cNvSpPr/>
          <p:nvPr/>
        </p:nvSpPr>
        <p:spPr>
          <a:xfrm>
            <a:off x="594360" y="1097280"/>
            <a:ext cx="320040" cy="320040"/>
          </a:xfrm>
          <a:prstGeom prst="ellipse">
            <a:avLst/>
          </a:prstGeom>
          <a:solidFill>
            <a:srgbClr val="00A4B4"/>
          </a:solidFill>
          <a:ln/>
        </p:spPr>
        <p:txBody>
          <a:bodyPr/>
          <a:lstStyle/>
          <a:p>
            <a:endParaRPr lang="en-CN"/>
          </a:p>
        </p:txBody>
      </p:sp>
      <p:sp>
        <p:nvSpPr>
          <p:cNvPr id="7" name="Text 5"/>
          <p:cNvSpPr/>
          <p:nvPr/>
        </p:nvSpPr>
        <p:spPr>
          <a:xfrm>
            <a:off x="594360" y="1097280"/>
            <a:ext cx="320040" cy="320040"/>
          </a:xfrm>
          <a:prstGeom prst="rect">
            <a:avLst/>
          </a:prstGeom>
          <a:noFill/>
          <a:ln/>
        </p:spPr>
        <p:txBody>
          <a:bodyPr wrap="square" rtlCol="0" anchor="ct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8" name="Text 6"/>
          <p:cNvSpPr/>
          <p:nvPr/>
        </p:nvSpPr>
        <p:spPr>
          <a:xfrm>
            <a:off x="960120" y="1097280"/>
            <a:ext cx="320040" cy="32004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9" name="Text 7"/>
          <p:cNvSpPr/>
          <p:nvPr/>
        </p:nvSpPr>
        <p:spPr>
          <a:xfrm>
            <a:off x="594360" y="1463040"/>
            <a:ext cx="22860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主要用户是谁？</a:t>
            </a:r>
            <a:endParaRPr lang="en-US" sz="1200" dirty="0"/>
          </a:p>
        </p:txBody>
      </p:sp>
      <p:sp>
        <p:nvSpPr>
          <p:cNvPr id="10" name="Text 8"/>
          <p:cNvSpPr/>
          <p:nvPr/>
        </p:nvSpPr>
        <p:spPr>
          <a:xfrm>
            <a:off x="594360" y="1737360"/>
            <a:ext cx="2286000" cy="274320"/>
          </a:xfrm>
          <a:prstGeom prst="rect">
            <a:avLst/>
          </a:prstGeom>
          <a:noFill/>
          <a:ln/>
        </p:spPr>
        <p:txBody>
          <a:bodyPr wrap="square" rtlCol="0" anchor="ctr"/>
          <a:lstStyle/>
          <a:p>
            <a:pPr marL="0" indent="0" algn="l">
              <a:buNone/>
            </a:pPr>
            <a:r>
              <a:rPr lang="en-US" sz="1300" b="1" dirty="0">
                <a:solidFill>
                  <a:srgbClr val="00A4B4"/>
                </a:solidFill>
                <a:latin typeface="Microsoft YaHei" pitchFamily="34" charset="0"/>
                <a:ea typeface="Microsoft YaHei" pitchFamily="34" charset="-122"/>
                <a:cs typeface="Microsoft YaHei" pitchFamily="34" charset="-120"/>
              </a:rPr>
              <a:t>→  PM</a:t>
            </a:r>
            <a:endParaRPr lang="en-US" sz="1300" dirty="0"/>
          </a:p>
        </p:txBody>
      </p:sp>
      <p:sp>
        <p:nvSpPr>
          <p:cNvPr id="11" name="Text 9"/>
          <p:cNvSpPr/>
          <p:nvPr/>
        </p:nvSpPr>
        <p:spPr>
          <a:xfrm>
            <a:off x="594360" y="2057400"/>
            <a:ext cx="2286000" cy="274320"/>
          </a:xfrm>
          <a:prstGeom prst="rect">
            <a:avLst/>
          </a:prstGeom>
          <a:noFill/>
          <a:ln/>
        </p:spPr>
        <p:txBody>
          <a:bodyPr wrap="square" rtlCol="0" anchor="ctr"/>
          <a:lstStyle/>
          <a:p>
            <a:pPr marL="0" indent="0" algn="l">
              <a:buNone/>
            </a:pPr>
            <a:r>
              <a:rPr lang="en-US" sz="1000" i="1" dirty="0">
                <a:solidFill>
                  <a:srgbClr val="888888"/>
                </a:solidFill>
                <a:latin typeface="Microsoft YaHei" pitchFamily="34" charset="0"/>
                <a:ea typeface="Microsoft YaHei" pitchFamily="34" charset="-122"/>
                <a:cs typeface="Microsoft YaHei" pitchFamily="34" charset="-120"/>
              </a:rPr>
              <a:t>影响：决定了设计方向</a:t>
            </a:r>
            <a:endParaRPr lang="en-US" sz="1000" dirty="0"/>
          </a:p>
        </p:txBody>
      </p:sp>
      <p:sp>
        <p:nvSpPr>
          <p:cNvPr id="12" name="Shape 10"/>
          <p:cNvSpPr/>
          <p:nvPr/>
        </p:nvSpPr>
        <p:spPr>
          <a:xfrm>
            <a:off x="3291840" y="1005840"/>
            <a:ext cx="2560320" cy="1554480"/>
          </a:xfrm>
          <a:prstGeom prst="roundRect">
            <a:avLst>
              <a:gd name="adj" fmla="val 4706"/>
            </a:avLst>
          </a:prstGeom>
          <a:solidFill>
            <a:srgbClr val="F5F5F5"/>
          </a:solidFill>
          <a:ln w="12700">
            <a:solidFill>
              <a:srgbClr val="E8E8E8"/>
            </a:solidFill>
            <a:prstDash val="solid"/>
          </a:ln>
        </p:spPr>
        <p:txBody>
          <a:bodyPr/>
          <a:lstStyle/>
          <a:p>
            <a:endParaRPr lang="en-CN"/>
          </a:p>
        </p:txBody>
      </p:sp>
      <p:sp>
        <p:nvSpPr>
          <p:cNvPr id="13" name="Shape 11"/>
          <p:cNvSpPr/>
          <p:nvPr/>
        </p:nvSpPr>
        <p:spPr>
          <a:xfrm>
            <a:off x="3429000" y="1097280"/>
            <a:ext cx="320040" cy="320040"/>
          </a:xfrm>
          <a:prstGeom prst="ellipse">
            <a:avLst/>
          </a:prstGeom>
          <a:solidFill>
            <a:srgbClr val="FF9900"/>
          </a:solidFill>
          <a:ln/>
        </p:spPr>
        <p:txBody>
          <a:bodyPr/>
          <a:lstStyle/>
          <a:p>
            <a:endParaRPr lang="en-CN"/>
          </a:p>
        </p:txBody>
      </p:sp>
      <p:sp>
        <p:nvSpPr>
          <p:cNvPr id="14" name="Text 12"/>
          <p:cNvSpPr/>
          <p:nvPr/>
        </p:nvSpPr>
        <p:spPr>
          <a:xfrm>
            <a:off x="3429000" y="1097280"/>
            <a:ext cx="320040" cy="320040"/>
          </a:xfrm>
          <a:prstGeom prst="rect">
            <a:avLst/>
          </a:prstGeom>
          <a:noFill/>
          <a:ln/>
        </p:spPr>
        <p:txBody>
          <a:bodyPr wrap="square" rtlCol="0" anchor="ct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5" name="Text 13"/>
          <p:cNvSpPr/>
          <p:nvPr/>
        </p:nvSpPr>
        <p:spPr>
          <a:xfrm>
            <a:off x="3794760" y="1097280"/>
            <a:ext cx="320040" cy="32004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6" name="Text 14"/>
          <p:cNvSpPr/>
          <p:nvPr/>
        </p:nvSpPr>
        <p:spPr>
          <a:xfrm>
            <a:off x="3429000" y="1463040"/>
            <a:ext cx="22860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成功标准是什么？</a:t>
            </a:r>
            <a:endParaRPr lang="en-US" sz="1200" dirty="0"/>
          </a:p>
        </p:txBody>
      </p:sp>
      <p:sp>
        <p:nvSpPr>
          <p:cNvPr id="17" name="Text 15"/>
          <p:cNvSpPr/>
          <p:nvPr/>
        </p:nvSpPr>
        <p:spPr>
          <a:xfrm>
            <a:off x="3429000" y="1737360"/>
            <a:ext cx="2286000" cy="274320"/>
          </a:xfrm>
          <a:prstGeom prst="rect">
            <a:avLst/>
          </a:prstGeom>
          <a:noFill/>
          <a:ln/>
        </p:spPr>
        <p:txBody>
          <a:bodyPr wrap="square" rtlCol="0" anchor="ctr"/>
          <a:lstStyle/>
          <a:p>
            <a:pPr marL="0" indent="0" algn="l">
              <a:buNone/>
            </a:pPr>
            <a:r>
              <a:rPr lang="en-US" sz="1300" b="1" dirty="0">
                <a:solidFill>
                  <a:srgbClr val="FF9900"/>
                </a:solidFill>
                <a:latin typeface="Microsoft YaHei" pitchFamily="34" charset="0"/>
                <a:ea typeface="Microsoft YaHei" pitchFamily="34" charset="-122"/>
                <a:cs typeface="Microsoft YaHei" pitchFamily="34" charset="-120"/>
              </a:rPr>
              <a:t>→  5分钟出DEMO</a:t>
            </a:r>
            <a:endParaRPr lang="en-US" sz="1300" dirty="0"/>
          </a:p>
        </p:txBody>
      </p:sp>
      <p:sp>
        <p:nvSpPr>
          <p:cNvPr id="18" name="Text 16"/>
          <p:cNvSpPr/>
          <p:nvPr/>
        </p:nvSpPr>
        <p:spPr>
          <a:xfrm>
            <a:off x="3429000" y="2057400"/>
            <a:ext cx="2286000" cy="274320"/>
          </a:xfrm>
          <a:prstGeom prst="rect">
            <a:avLst/>
          </a:prstGeom>
          <a:noFill/>
          <a:ln/>
        </p:spPr>
        <p:txBody>
          <a:bodyPr wrap="square" rtlCol="0" anchor="ctr"/>
          <a:lstStyle/>
          <a:p>
            <a:pPr marL="0" indent="0" algn="l">
              <a:buNone/>
            </a:pPr>
            <a:r>
              <a:rPr lang="en-US" sz="1000" i="1" dirty="0">
                <a:solidFill>
                  <a:srgbClr val="888888"/>
                </a:solidFill>
                <a:latin typeface="Microsoft YaHei" pitchFamily="34" charset="0"/>
                <a:ea typeface="Microsoft YaHei" pitchFamily="34" charset="-122"/>
                <a:cs typeface="Microsoft YaHei" pitchFamily="34" charset="-120"/>
              </a:rPr>
              <a:t>影响：追求快不追求完美</a:t>
            </a:r>
            <a:endParaRPr lang="en-US" sz="1000" dirty="0"/>
          </a:p>
        </p:txBody>
      </p:sp>
      <p:sp>
        <p:nvSpPr>
          <p:cNvPr id="19" name="Shape 17"/>
          <p:cNvSpPr/>
          <p:nvPr/>
        </p:nvSpPr>
        <p:spPr>
          <a:xfrm>
            <a:off x="6126480" y="1005840"/>
            <a:ext cx="2560320" cy="1554480"/>
          </a:xfrm>
          <a:prstGeom prst="roundRect">
            <a:avLst>
              <a:gd name="adj" fmla="val 4706"/>
            </a:avLst>
          </a:prstGeom>
          <a:solidFill>
            <a:srgbClr val="F5F5F5"/>
          </a:solidFill>
          <a:ln w="12700">
            <a:solidFill>
              <a:srgbClr val="E8E8E8"/>
            </a:solidFill>
            <a:prstDash val="solid"/>
          </a:ln>
        </p:spPr>
        <p:txBody>
          <a:bodyPr/>
          <a:lstStyle/>
          <a:p>
            <a:endParaRPr lang="en-CN"/>
          </a:p>
        </p:txBody>
      </p:sp>
      <p:sp>
        <p:nvSpPr>
          <p:cNvPr id="20" name="Shape 18"/>
          <p:cNvSpPr/>
          <p:nvPr/>
        </p:nvSpPr>
        <p:spPr>
          <a:xfrm>
            <a:off x="6263640" y="1097280"/>
            <a:ext cx="320040" cy="320040"/>
          </a:xfrm>
          <a:prstGeom prst="ellipse">
            <a:avLst/>
          </a:prstGeom>
          <a:solidFill>
            <a:srgbClr val="1A73E8"/>
          </a:solidFill>
          <a:ln/>
        </p:spPr>
        <p:txBody>
          <a:bodyPr/>
          <a:lstStyle/>
          <a:p>
            <a:endParaRPr lang="en-CN"/>
          </a:p>
        </p:txBody>
      </p:sp>
      <p:sp>
        <p:nvSpPr>
          <p:cNvPr id="21" name="Text 19"/>
          <p:cNvSpPr/>
          <p:nvPr/>
        </p:nvSpPr>
        <p:spPr>
          <a:xfrm>
            <a:off x="6263640" y="1097280"/>
            <a:ext cx="320040" cy="320040"/>
          </a:xfrm>
          <a:prstGeom prst="rect">
            <a:avLst/>
          </a:prstGeom>
          <a:noFill/>
          <a:ln/>
        </p:spPr>
        <p:txBody>
          <a:bodyPr wrap="square" rtlCol="0" anchor="ct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22" name="Text 20"/>
          <p:cNvSpPr/>
          <p:nvPr/>
        </p:nvSpPr>
        <p:spPr>
          <a:xfrm>
            <a:off x="6629400" y="1097280"/>
            <a:ext cx="320040" cy="32004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63640" y="1463040"/>
            <a:ext cx="22860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第一版支持哪种页面？</a:t>
            </a:r>
            <a:endParaRPr lang="en-US" sz="1200" dirty="0"/>
          </a:p>
        </p:txBody>
      </p:sp>
      <p:sp>
        <p:nvSpPr>
          <p:cNvPr id="24" name="Text 22"/>
          <p:cNvSpPr/>
          <p:nvPr/>
        </p:nvSpPr>
        <p:spPr>
          <a:xfrm>
            <a:off x="6263640" y="1737360"/>
            <a:ext cx="2286000" cy="274320"/>
          </a:xfrm>
          <a:prstGeom prst="rect">
            <a:avLst/>
          </a:prstGeom>
          <a:noFill/>
          <a:ln/>
        </p:spPr>
        <p:txBody>
          <a:bodyPr wrap="square" rtlCol="0" anchor="ctr"/>
          <a:lstStyle/>
          <a:p>
            <a:pPr marL="0" indent="0" algn="l">
              <a:buNone/>
            </a:pPr>
            <a:r>
              <a:rPr lang="en-US" sz="1300" b="1" dirty="0">
                <a:solidFill>
                  <a:srgbClr val="1A73E8"/>
                </a:solidFill>
                <a:latin typeface="Microsoft YaHei" pitchFamily="34" charset="0"/>
                <a:ea typeface="Microsoft YaHei" pitchFamily="34" charset="-122"/>
                <a:cs typeface="Microsoft YaHei" pitchFamily="34" charset="-120"/>
              </a:rPr>
              <a:t>→  CRUD列表页</a:t>
            </a:r>
            <a:endParaRPr lang="en-US" sz="1300" dirty="0"/>
          </a:p>
        </p:txBody>
      </p:sp>
      <p:sp>
        <p:nvSpPr>
          <p:cNvPr id="25" name="Text 23"/>
          <p:cNvSpPr/>
          <p:nvPr/>
        </p:nvSpPr>
        <p:spPr>
          <a:xfrm>
            <a:off x="6263640" y="2057400"/>
            <a:ext cx="2286000" cy="274320"/>
          </a:xfrm>
          <a:prstGeom prst="rect">
            <a:avLst/>
          </a:prstGeom>
          <a:noFill/>
          <a:ln/>
        </p:spPr>
        <p:txBody>
          <a:bodyPr wrap="square" rtlCol="0" anchor="ctr"/>
          <a:lstStyle/>
          <a:p>
            <a:pPr marL="0" indent="0" algn="l">
              <a:buNone/>
            </a:pPr>
            <a:r>
              <a:rPr lang="en-US" sz="1000" i="1" dirty="0">
                <a:solidFill>
                  <a:srgbClr val="888888"/>
                </a:solidFill>
                <a:latin typeface="Microsoft YaHei" pitchFamily="34" charset="0"/>
                <a:ea typeface="Microsoft YaHei" pitchFamily="34" charset="-122"/>
                <a:cs typeface="Microsoft YaHei" pitchFamily="34" charset="-120"/>
              </a:rPr>
              <a:t>影响：控制 v1 范围</a:t>
            </a:r>
            <a:endParaRPr lang="en-US" sz="1000" dirty="0"/>
          </a:p>
        </p:txBody>
      </p:sp>
      <p:sp>
        <p:nvSpPr>
          <p:cNvPr id="26" name="Shape 24"/>
          <p:cNvSpPr/>
          <p:nvPr/>
        </p:nvSpPr>
        <p:spPr>
          <a:xfrm>
            <a:off x="1737360" y="2743200"/>
            <a:ext cx="2560320" cy="1554480"/>
          </a:xfrm>
          <a:prstGeom prst="roundRect">
            <a:avLst>
              <a:gd name="adj" fmla="val 4706"/>
            </a:avLst>
          </a:prstGeom>
          <a:solidFill>
            <a:srgbClr val="F5F5F5"/>
          </a:solidFill>
          <a:ln w="12700">
            <a:solidFill>
              <a:srgbClr val="E8E8E8"/>
            </a:solidFill>
            <a:prstDash val="solid"/>
          </a:ln>
        </p:spPr>
        <p:txBody>
          <a:bodyPr/>
          <a:lstStyle/>
          <a:p>
            <a:endParaRPr lang="en-CN"/>
          </a:p>
        </p:txBody>
      </p:sp>
      <p:sp>
        <p:nvSpPr>
          <p:cNvPr id="27" name="Shape 25"/>
          <p:cNvSpPr/>
          <p:nvPr/>
        </p:nvSpPr>
        <p:spPr>
          <a:xfrm>
            <a:off x="1874520" y="2834640"/>
            <a:ext cx="320040" cy="320040"/>
          </a:xfrm>
          <a:prstGeom prst="ellipse">
            <a:avLst/>
          </a:prstGeom>
          <a:solidFill>
            <a:srgbClr val="34A853"/>
          </a:solidFill>
          <a:ln/>
        </p:spPr>
        <p:txBody>
          <a:bodyPr/>
          <a:lstStyle/>
          <a:p>
            <a:endParaRPr lang="en-CN"/>
          </a:p>
        </p:txBody>
      </p:sp>
      <p:sp>
        <p:nvSpPr>
          <p:cNvPr id="28" name="Text 26"/>
          <p:cNvSpPr/>
          <p:nvPr/>
        </p:nvSpPr>
        <p:spPr>
          <a:xfrm>
            <a:off x="1874520" y="2834640"/>
            <a:ext cx="320040" cy="320040"/>
          </a:xfrm>
          <a:prstGeom prst="rect">
            <a:avLst/>
          </a:prstGeom>
          <a:noFill/>
          <a:ln/>
        </p:spPr>
        <p:txBody>
          <a:bodyPr wrap="square" rtlCol="0" anchor="ct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29" name="Text 27"/>
          <p:cNvSpPr/>
          <p:nvPr/>
        </p:nvSpPr>
        <p:spPr>
          <a:xfrm>
            <a:off x="2240280" y="2834640"/>
            <a:ext cx="320040" cy="32004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0" name="Text 28"/>
          <p:cNvSpPr/>
          <p:nvPr/>
        </p:nvSpPr>
        <p:spPr>
          <a:xfrm>
            <a:off x="1874520" y="3200400"/>
            <a:ext cx="22860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需求不清楚时怎么办？</a:t>
            </a:r>
            <a:endParaRPr lang="en-US" sz="1200" dirty="0"/>
          </a:p>
        </p:txBody>
      </p:sp>
      <p:sp>
        <p:nvSpPr>
          <p:cNvPr id="31" name="Text 29"/>
          <p:cNvSpPr/>
          <p:nvPr/>
        </p:nvSpPr>
        <p:spPr>
          <a:xfrm>
            <a:off x="1874520" y="3474720"/>
            <a:ext cx="2286000" cy="274320"/>
          </a:xfrm>
          <a:prstGeom prst="rect">
            <a:avLst/>
          </a:prstGeom>
          <a:noFill/>
          <a:ln/>
        </p:spPr>
        <p:txBody>
          <a:bodyPr wrap="square" rtlCol="0" anchor="ctr"/>
          <a:lstStyle/>
          <a:p>
            <a:pPr marL="0" indent="0" algn="l">
              <a:buNone/>
            </a:pPr>
            <a:r>
              <a:rPr lang="en-US" sz="1300" b="1" dirty="0">
                <a:solidFill>
                  <a:srgbClr val="34A853"/>
                </a:solidFill>
                <a:latin typeface="Microsoft YaHei" pitchFamily="34" charset="0"/>
                <a:ea typeface="Microsoft YaHei" pitchFamily="34" charset="-122"/>
                <a:cs typeface="Microsoft YaHei" pitchFamily="34" charset="-120"/>
              </a:rPr>
              <a:t>→  主动追问</a:t>
            </a:r>
            <a:endParaRPr lang="en-US" sz="1300" dirty="0"/>
          </a:p>
        </p:txBody>
      </p:sp>
      <p:sp>
        <p:nvSpPr>
          <p:cNvPr id="32" name="Text 30"/>
          <p:cNvSpPr/>
          <p:nvPr/>
        </p:nvSpPr>
        <p:spPr>
          <a:xfrm>
            <a:off x="1874520" y="3794760"/>
            <a:ext cx="2286000" cy="274320"/>
          </a:xfrm>
          <a:prstGeom prst="rect">
            <a:avLst/>
          </a:prstGeom>
          <a:noFill/>
          <a:ln/>
        </p:spPr>
        <p:txBody>
          <a:bodyPr wrap="square" rtlCol="0" anchor="ctr"/>
          <a:lstStyle/>
          <a:p>
            <a:pPr marL="0" indent="0" algn="l">
              <a:buNone/>
            </a:pPr>
            <a:r>
              <a:rPr lang="en-US" sz="1000" i="1" dirty="0">
                <a:solidFill>
                  <a:srgbClr val="888888"/>
                </a:solidFill>
                <a:latin typeface="Microsoft YaHei" pitchFamily="34" charset="0"/>
                <a:ea typeface="Microsoft YaHei" pitchFamily="34" charset="-122"/>
                <a:cs typeface="Microsoft YaHei" pitchFamily="34" charset="-120"/>
              </a:rPr>
              <a:t>影响：决定交互方式</a:t>
            </a:r>
            <a:endParaRPr lang="en-US" sz="1000" dirty="0"/>
          </a:p>
        </p:txBody>
      </p:sp>
      <p:sp>
        <p:nvSpPr>
          <p:cNvPr id="33" name="Shape 31"/>
          <p:cNvSpPr/>
          <p:nvPr/>
        </p:nvSpPr>
        <p:spPr>
          <a:xfrm>
            <a:off x="4572000" y="2743200"/>
            <a:ext cx="2560320" cy="1554480"/>
          </a:xfrm>
          <a:prstGeom prst="roundRect">
            <a:avLst>
              <a:gd name="adj" fmla="val 4706"/>
            </a:avLst>
          </a:prstGeom>
          <a:solidFill>
            <a:srgbClr val="F5F5F5"/>
          </a:solidFill>
          <a:ln w="12700">
            <a:solidFill>
              <a:srgbClr val="E8E8E8"/>
            </a:solidFill>
            <a:prstDash val="solid"/>
          </a:ln>
        </p:spPr>
        <p:txBody>
          <a:bodyPr/>
          <a:lstStyle/>
          <a:p>
            <a:endParaRPr lang="en-CN"/>
          </a:p>
        </p:txBody>
      </p:sp>
      <p:sp>
        <p:nvSpPr>
          <p:cNvPr id="34" name="Shape 32"/>
          <p:cNvSpPr/>
          <p:nvPr/>
        </p:nvSpPr>
        <p:spPr>
          <a:xfrm>
            <a:off x="4709160" y="2834640"/>
            <a:ext cx="320040" cy="320040"/>
          </a:xfrm>
          <a:prstGeom prst="ellipse">
            <a:avLst/>
          </a:prstGeom>
          <a:solidFill>
            <a:srgbClr val="E91E63"/>
          </a:solidFill>
          <a:ln/>
        </p:spPr>
        <p:txBody>
          <a:bodyPr/>
          <a:lstStyle/>
          <a:p>
            <a:endParaRPr lang="en-CN"/>
          </a:p>
        </p:txBody>
      </p:sp>
      <p:sp>
        <p:nvSpPr>
          <p:cNvPr id="35" name="Text 33"/>
          <p:cNvSpPr/>
          <p:nvPr/>
        </p:nvSpPr>
        <p:spPr>
          <a:xfrm>
            <a:off x="4709160" y="2834640"/>
            <a:ext cx="320040" cy="320040"/>
          </a:xfrm>
          <a:prstGeom prst="rect">
            <a:avLst/>
          </a:prstGeom>
          <a:noFill/>
          <a:ln/>
        </p:spPr>
        <p:txBody>
          <a:bodyPr wrap="square" rtlCol="0" anchor="ct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5</a:t>
            </a:r>
            <a:endParaRPr lang="en-US" sz="1300" dirty="0"/>
          </a:p>
        </p:txBody>
      </p:sp>
      <p:sp>
        <p:nvSpPr>
          <p:cNvPr id="36" name="Text 34"/>
          <p:cNvSpPr/>
          <p:nvPr/>
        </p:nvSpPr>
        <p:spPr>
          <a:xfrm>
            <a:off x="5074920" y="2834640"/>
            <a:ext cx="320040" cy="320040"/>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7" name="Text 35"/>
          <p:cNvSpPr/>
          <p:nvPr/>
        </p:nvSpPr>
        <p:spPr>
          <a:xfrm>
            <a:off x="4709160" y="3200400"/>
            <a:ext cx="22860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DEMO交互复杂度？</a:t>
            </a:r>
            <a:endParaRPr lang="en-US" sz="1200" dirty="0"/>
          </a:p>
        </p:txBody>
      </p:sp>
      <p:sp>
        <p:nvSpPr>
          <p:cNvPr id="38" name="Text 36"/>
          <p:cNvSpPr/>
          <p:nvPr/>
        </p:nvSpPr>
        <p:spPr>
          <a:xfrm>
            <a:off x="4709160" y="3474720"/>
            <a:ext cx="2286000" cy="274320"/>
          </a:xfrm>
          <a:prstGeom prst="rect">
            <a:avLst/>
          </a:prstGeom>
          <a:noFill/>
          <a:ln/>
        </p:spPr>
        <p:txBody>
          <a:bodyPr wrap="square" rtlCol="0" anchor="ctr"/>
          <a:lstStyle/>
          <a:p>
            <a:pPr marL="0" indent="0" algn="l">
              <a:buNone/>
            </a:pPr>
            <a:r>
              <a:rPr lang="en-US" sz="1300" b="1" dirty="0">
                <a:solidFill>
                  <a:srgbClr val="E91E63"/>
                </a:solidFill>
                <a:latin typeface="Microsoft YaHei" pitchFamily="34" charset="0"/>
                <a:ea typeface="Microsoft YaHei" pitchFamily="34" charset="-122"/>
                <a:cs typeface="Microsoft YaHei" pitchFamily="34" charset="-120"/>
              </a:rPr>
              <a:t>→  UI层交互</a:t>
            </a:r>
            <a:endParaRPr lang="en-US" sz="1300" dirty="0"/>
          </a:p>
        </p:txBody>
      </p:sp>
      <p:sp>
        <p:nvSpPr>
          <p:cNvPr id="39" name="Text 37"/>
          <p:cNvSpPr/>
          <p:nvPr/>
        </p:nvSpPr>
        <p:spPr>
          <a:xfrm>
            <a:off x="4709160" y="3794760"/>
            <a:ext cx="2286000" cy="274320"/>
          </a:xfrm>
          <a:prstGeom prst="rect">
            <a:avLst/>
          </a:prstGeom>
          <a:noFill/>
          <a:ln/>
        </p:spPr>
        <p:txBody>
          <a:bodyPr wrap="square" rtlCol="0" anchor="ctr"/>
          <a:lstStyle/>
          <a:p>
            <a:pPr marL="0" indent="0" algn="l">
              <a:buNone/>
            </a:pPr>
            <a:r>
              <a:rPr lang="en-US" sz="1000" i="1" dirty="0">
                <a:solidFill>
                  <a:srgbClr val="888888"/>
                </a:solidFill>
                <a:latin typeface="Microsoft YaHei" pitchFamily="34" charset="0"/>
                <a:ea typeface="Microsoft YaHei" pitchFamily="34" charset="-122"/>
                <a:cs typeface="Microsoft YaHei" pitchFamily="34" charset="-120"/>
              </a:rPr>
              <a:t>影响：划定技术边界</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1A73E8"/>
                </a:solidFill>
                <a:latin typeface="Microsoft YaHei" pitchFamily="34" charset="0"/>
                <a:ea typeface="Microsoft YaHei" pitchFamily="34" charset="-122"/>
                <a:cs typeface="Microsoft YaHei" pitchFamily="34" charset="-120"/>
              </a:rPr>
              <a:t>第三步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plan — "把任务拆清楚"</a:t>
            </a:r>
            <a:endParaRPr lang="en-US" sz="2400" dirty="0"/>
          </a:p>
        </p:txBody>
      </p:sp>
      <p:sp>
        <p:nvSpPr>
          <p:cNvPr id="5" name="Text 3"/>
          <p:cNvSpPr/>
          <p:nvPr/>
        </p:nvSpPr>
        <p:spPr>
          <a:xfrm>
            <a:off x="731520" y="960120"/>
            <a:ext cx="7680960" cy="320040"/>
          </a:xfrm>
          <a:prstGeom prst="rect">
            <a:avLst/>
          </a:prstGeom>
          <a:noFill/>
          <a:ln/>
        </p:spPr>
        <p:txBody>
          <a:bodyPr wrap="square" rtlCol="0" anchor="ctr"/>
          <a:lstStyle/>
          <a:p>
            <a:pPr marL="0" indent="0" algn="l">
              <a:buNone/>
            </a:pPr>
            <a:r>
              <a:rPr lang="en-US" sz="1300" dirty="0">
                <a:solidFill>
                  <a:srgbClr val="888888"/>
                </a:solidFill>
                <a:latin typeface="Microsoft YaHei" pitchFamily="34" charset="0"/>
                <a:ea typeface="Microsoft YaHei" pitchFamily="34" charset="-122"/>
                <a:cs typeface="Microsoft YaHei" pitchFamily="34" charset="-120"/>
              </a:rPr>
              <a:t>核心产出：DAG（有向无环图）— 任务依赖关系图</a:t>
            </a:r>
            <a:endParaRPr lang="en-US" sz="1300" dirty="0"/>
          </a:p>
        </p:txBody>
      </p:sp>
      <p:sp>
        <p:nvSpPr>
          <p:cNvPr id="6" name="Shape 4"/>
          <p:cNvSpPr/>
          <p:nvPr/>
        </p:nvSpPr>
        <p:spPr>
          <a:xfrm>
            <a:off x="1371600" y="1554480"/>
            <a:ext cx="1645920" cy="548640"/>
          </a:xfrm>
          <a:prstGeom prst="roundRect">
            <a:avLst>
              <a:gd name="adj" fmla="val 13333"/>
            </a:avLst>
          </a:prstGeom>
          <a:solidFill>
            <a:srgbClr val="E3F2FD"/>
          </a:solidFill>
          <a:ln w="19050">
            <a:solidFill>
              <a:srgbClr val="90CAF9"/>
            </a:solidFill>
            <a:prstDash val="solid"/>
          </a:ln>
        </p:spPr>
        <p:txBody>
          <a:bodyPr/>
          <a:lstStyle/>
          <a:p>
            <a:endParaRPr lang="en-CN"/>
          </a:p>
        </p:txBody>
      </p:sp>
      <p:sp>
        <p:nvSpPr>
          <p:cNvPr id="7" name="Text 5"/>
          <p:cNvSpPr/>
          <p:nvPr/>
        </p:nvSpPr>
        <p:spPr>
          <a:xfrm>
            <a:off x="1371600" y="1554480"/>
            <a:ext cx="1645920" cy="548640"/>
          </a:xfrm>
          <a:prstGeom prst="rect">
            <a:avLst/>
          </a:prstGeom>
          <a:noFill/>
          <a:ln/>
        </p:spPr>
        <p:txBody>
          <a:bodyPr wrap="square" rtlCol="0" anchor="ctr"/>
          <a:lstStyle/>
          <a:p>
            <a:pPr marL="0" indent="0" algn="ctr">
              <a:buNone/>
            </a:pPr>
            <a:r>
              <a:rPr lang="en-US" sz="1400" b="1" dirty="0">
                <a:solidFill>
                  <a:srgbClr val="1565C0"/>
                </a:solidFill>
                <a:latin typeface="Microsoft YaHei" pitchFamily="34" charset="0"/>
                <a:ea typeface="Microsoft YaHei" pitchFamily="34" charset="-122"/>
                <a:cs typeface="Microsoft YaHei" pitchFamily="34" charset="-120"/>
              </a:rPr>
              <a:t>任务 A</a:t>
            </a:r>
            <a:endParaRPr lang="en-US" sz="1400" dirty="0"/>
          </a:p>
        </p:txBody>
      </p:sp>
      <p:sp>
        <p:nvSpPr>
          <p:cNvPr id="8" name="Shape 6"/>
          <p:cNvSpPr/>
          <p:nvPr/>
        </p:nvSpPr>
        <p:spPr>
          <a:xfrm>
            <a:off x="1371600" y="2468880"/>
            <a:ext cx="1645920" cy="548640"/>
          </a:xfrm>
          <a:prstGeom prst="roundRect">
            <a:avLst>
              <a:gd name="adj" fmla="val 13333"/>
            </a:avLst>
          </a:prstGeom>
          <a:solidFill>
            <a:srgbClr val="E3F2FD"/>
          </a:solidFill>
          <a:ln w="19050">
            <a:solidFill>
              <a:srgbClr val="90CAF9"/>
            </a:solidFill>
            <a:prstDash val="solid"/>
          </a:ln>
        </p:spPr>
        <p:txBody>
          <a:bodyPr/>
          <a:lstStyle/>
          <a:p>
            <a:endParaRPr lang="en-CN"/>
          </a:p>
        </p:txBody>
      </p:sp>
      <p:sp>
        <p:nvSpPr>
          <p:cNvPr id="9" name="Text 7"/>
          <p:cNvSpPr/>
          <p:nvPr/>
        </p:nvSpPr>
        <p:spPr>
          <a:xfrm>
            <a:off x="1371600" y="2468880"/>
            <a:ext cx="1645920" cy="548640"/>
          </a:xfrm>
          <a:prstGeom prst="rect">
            <a:avLst/>
          </a:prstGeom>
          <a:noFill/>
          <a:ln/>
        </p:spPr>
        <p:txBody>
          <a:bodyPr wrap="square" rtlCol="0" anchor="ctr"/>
          <a:lstStyle/>
          <a:p>
            <a:pPr marL="0" indent="0" algn="ctr">
              <a:buNone/>
            </a:pPr>
            <a:r>
              <a:rPr lang="en-US" sz="1400" b="1" dirty="0">
                <a:solidFill>
                  <a:srgbClr val="1565C0"/>
                </a:solidFill>
                <a:latin typeface="Microsoft YaHei" pitchFamily="34" charset="0"/>
                <a:ea typeface="Microsoft YaHei" pitchFamily="34" charset="-122"/>
                <a:cs typeface="Microsoft YaHei" pitchFamily="34" charset="-120"/>
              </a:rPr>
              <a:t>任务 B</a:t>
            </a:r>
            <a:endParaRPr lang="en-US" sz="1400" dirty="0"/>
          </a:p>
        </p:txBody>
      </p:sp>
      <p:sp>
        <p:nvSpPr>
          <p:cNvPr id="10" name="Shape 8"/>
          <p:cNvSpPr/>
          <p:nvPr/>
        </p:nvSpPr>
        <p:spPr>
          <a:xfrm>
            <a:off x="4572000" y="1554480"/>
            <a:ext cx="1645920" cy="548640"/>
          </a:xfrm>
          <a:prstGeom prst="roundRect">
            <a:avLst>
              <a:gd name="adj" fmla="val 13333"/>
            </a:avLst>
          </a:prstGeom>
          <a:solidFill>
            <a:srgbClr val="FFF3E0"/>
          </a:solidFill>
          <a:ln w="19050">
            <a:solidFill>
              <a:srgbClr val="FFB74D"/>
            </a:solidFill>
            <a:prstDash val="solid"/>
          </a:ln>
        </p:spPr>
        <p:txBody>
          <a:bodyPr/>
          <a:lstStyle/>
          <a:p>
            <a:endParaRPr lang="en-CN"/>
          </a:p>
        </p:txBody>
      </p:sp>
      <p:sp>
        <p:nvSpPr>
          <p:cNvPr id="11" name="Text 9"/>
          <p:cNvSpPr/>
          <p:nvPr/>
        </p:nvSpPr>
        <p:spPr>
          <a:xfrm>
            <a:off x="4572000" y="1554480"/>
            <a:ext cx="1645920" cy="548640"/>
          </a:xfrm>
          <a:prstGeom prst="rect">
            <a:avLst/>
          </a:prstGeom>
          <a:noFill/>
          <a:ln/>
        </p:spPr>
        <p:txBody>
          <a:bodyPr wrap="square" rtlCol="0" anchor="ctr"/>
          <a:lstStyle/>
          <a:p>
            <a:pPr marL="0" indent="0" algn="ctr">
              <a:buNone/>
            </a:pPr>
            <a:r>
              <a:rPr lang="en-US" sz="1400" b="1" dirty="0">
                <a:solidFill>
                  <a:srgbClr val="E65100"/>
                </a:solidFill>
                <a:latin typeface="Microsoft YaHei" pitchFamily="34" charset="0"/>
                <a:ea typeface="Microsoft YaHei" pitchFamily="34" charset="-122"/>
                <a:cs typeface="Microsoft YaHei" pitchFamily="34" charset="-120"/>
              </a:rPr>
              <a:t>任务 C</a:t>
            </a:r>
            <a:endParaRPr lang="en-US" sz="1400" dirty="0"/>
          </a:p>
        </p:txBody>
      </p:sp>
      <p:sp>
        <p:nvSpPr>
          <p:cNvPr id="12" name="Shape 10"/>
          <p:cNvSpPr/>
          <p:nvPr/>
        </p:nvSpPr>
        <p:spPr>
          <a:xfrm>
            <a:off x="6858000" y="2011680"/>
            <a:ext cx="1645920" cy="548640"/>
          </a:xfrm>
          <a:prstGeom prst="roundRect">
            <a:avLst>
              <a:gd name="adj" fmla="val 13333"/>
            </a:avLst>
          </a:prstGeom>
          <a:solidFill>
            <a:srgbClr val="E8F5E9"/>
          </a:solidFill>
          <a:ln w="19050">
            <a:solidFill>
              <a:srgbClr val="81C784"/>
            </a:solidFill>
            <a:prstDash val="solid"/>
          </a:ln>
        </p:spPr>
        <p:txBody>
          <a:bodyPr/>
          <a:lstStyle/>
          <a:p>
            <a:endParaRPr lang="en-CN"/>
          </a:p>
        </p:txBody>
      </p:sp>
      <p:sp>
        <p:nvSpPr>
          <p:cNvPr id="13" name="Text 11"/>
          <p:cNvSpPr/>
          <p:nvPr/>
        </p:nvSpPr>
        <p:spPr>
          <a:xfrm>
            <a:off x="6858000" y="2011680"/>
            <a:ext cx="1645920" cy="548640"/>
          </a:xfrm>
          <a:prstGeom prst="rect">
            <a:avLst/>
          </a:prstGeom>
          <a:noFill/>
          <a:ln/>
        </p:spPr>
        <p:txBody>
          <a:bodyPr wrap="square" rtlCol="0" anchor="ctr"/>
          <a:lstStyle/>
          <a:p>
            <a:pPr marL="0" indent="0" algn="ctr">
              <a:buNone/>
            </a:pPr>
            <a:r>
              <a:rPr lang="en-US" sz="1400" b="1" dirty="0">
                <a:solidFill>
                  <a:srgbClr val="2E7D32"/>
                </a:solidFill>
                <a:latin typeface="Microsoft YaHei" pitchFamily="34" charset="0"/>
                <a:ea typeface="Microsoft YaHei" pitchFamily="34" charset="-122"/>
                <a:cs typeface="Microsoft YaHei" pitchFamily="34" charset="-120"/>
              </a:rPr>
              <a:t>任务 D</a:t>
            </a:r>
            <a:endParaRPr lang="en-US" sz="1400" dirty="0"/>
          </a:p>
        </p:txBody>
      </p:sp>
      <p:sp>
        <p:nvSpPr>
          <p:cNvPr id="14" name="Text 12"/>
          <p:cNvSpPr/>
          <p:nvPr/>
        </p:nvSpPr>
        <p:spPr>
          <a:xfrm>
            <a:off x="3017520" y="1554480"/>
            <a:ext cx="1554480" cy="548640"/>
          </a:xfrm>
          <a:prstGeom prst="rect">
            <a:avLst/>
          </a:prstGeom>
          <a:noFill/>
          <a:ln/>
        </p:spPr>
        <p:txBody>
          <a:bodyPr wrap="square" rtlCol="0" anchor="ctr"/>
          <a:lstStyle/>
          <a:p>
            <a:pPr marL="0" indent="0" algn="ctr">
              <a:buNone/>
            </a:pPr>
            <a:r>
              <a:rPr lang="en-US" sz="1200" dirty="0">
                <a:solidFill>
                  <a:srgbClr val="FFB74D"/>
                </a:solidFill>
              </a:rPr>
              <a:t>──────▶</a:t>
            </a:r>
            <a:endParaRPr lang="en-US" sz="1200" dirty="0"/>
          </a:p>
        </p:txBody>
      </p:sp>
      <p:sp>
        <p:nvSpPr>
          <p:cNvPr id="15" name="Text 13"/>
          <p:cNvSpPr/>
          <p:nvPr/>
        </p:nvSpPr>
        <p:spPr>
          <a:xfrm>
            <a:off x="3017520" y="2468880"/>
            <a:ext cx="1554480" cy="548640"/>
          </a:xfrm>
          <a:prstGeom prst="rect">
            <a:avLst/>
          </a:prstGeom>
          <a:noFill/>
          <a:ln/>
        </p:spPr>
        <p:txBody>
          <a:bodyPr wrap="square" rtlCol="0" anchor="ctr"/>
          <a:lstStyle/>
          <a:p>
            <a:pPr marL="0" indent="0" algn="ctr">
              <a:buNone/>
            </a:pPr>
            <a:r>
              <a:rPr lang="en-US" sz="1200" dirty="0">
                <a:solidFill>
                  <a:srgbClr val="81C784"/>
                </a:solidFill>
              </a:rPr>
              <a:t>──────▶</a:t>
            </a:r>
            <a:endParaRPr lang="en-US" sz="1200" dirty="0"/>
          </a:p>
        </p:txBody>
      </p:sp>
      <p:sp>
        <p:nvSpPr>
          <p:cNvPr id="16" name="Text 14"/>
          <p:cNvSpPr/>
          <p:nvPr/>
        </p:nvSpPr>
        <p:spPr>
          <a:xfrm>
            <a:off x="5303520" y="2240280"/>
            <a:ext cx="1554480" cy="320040"/>
          </a:xfrm>
          <a:prstGeom prst="rect">
            <a:avLst/>
          </a:prstGeom>
          <a:noFill/>
          <a:ln/>
        </p:spPr>
        <p:txBody>
          <a:bodyPr wrap="square" rtlCol="0" anchor="ctr"/>
          <a:lstStyle/>
          <a:p>
            <a:pPr marL="0" indent="0" algn="ctr">
              <a:buNone/>
            </a:pPr>
            <a:r>
              <a:rPr lang="en-US" sz="1200" dirty="0">
                <a:solidFill>
                  <a:srgbClr val="81C784"/>
                </a:solidFill>
              </a:rPr>
              <a:t>──────▶</a:t>
            </a:r>
            <a:endParaRPr lang="en-US" sz="1200" dirty="0"/>
          </a:p>
        </p:txBody>
      </p:sp>
      <p:sp>
        <p:nvSpPr>
          <p:cNvPr id="17" name="Text 15"/>
          <p:cNvSpPr/>
          <p:nvPr/>
        </p:nvSpPr>
        <p:spPr>
          <a:xfrm>
            <a:off x="1371600" y="3383280"/>
            <a:ext cx="6400800" cy="320040"/>
          </a:xfrm>
          <a:prstGeom prst="rect">
            <a:avLst/>
          </a:prstGeom>
          <a:noFill/>
          <a:ln/>
        </p:spPr>
        <p:txBody>
          <a:bodyPr wrap="square" rtlCol="0" anchor="ctr"/>
          <a:lstStyle/>
          <a:p>
            <a:pPr marL="0" indent="0" algn="l">
              <a:buNone/>
            </a:pPr>
            <a:r>
              <a:rPr lang="en-US" sz="1200" dirty="0">
                <a:solidFill>
                  <a:srgbClr val="1565C0"/>
                </a:solidFill>
                <a:latin typeface="Microsoft YaHei" pitchFamily="34" charset="0"/>
                <a:ea typeface="Microsoft YaHei" pitchFamily="34" charset="-122"/>
                <a:cs typeface="Microsoft YaHei" pitchFamily="34" charset="-120"/>
              </a:rPr>
              <a:t>🔵  A 和 B 没有依赖关系 → 可以同时做</a:t>
            </a:r>
            <a:endParaRPr lang="en-US" sz="1200" dirty="0"/>
          </a:p>
        </p:txBody>
      </p:sp>
      <p:sp>
        <p:nvSpPr>
          <p:cNvPr id="18" name="Text 16"/>
          <p:cNvSpPr/>
          <p:nvPr/>
        </p:nvSpPr>
        <p:spPr>
          <a:xfrm>
            <a:off x="1371600" y="3749040"/>
            <a:ext cx="6400800" cy="320040"/>
          </a:xfrm>
          <a:prstGeom prst="rect">
            <a:avLst/>
          </a:prstGeom>
          <a:noFill/>
          <a:ln/>
        </p:spPr>
        <p:txBody>
          <a:bodyPr wrap="square" rtlCol="0" anchor="ctr"/>
          <a:lstStyle/>
          <a:p>
            <a:pPr marL="0" indent="0" algn="l">
              <a:buNone/>
            </a:pPr>
            <a:r>
              <a:rPr lang="en-US" sz="1200" dirty="0">
                <a:solidFill>
                  <a:srgbClr val="E65100"/>
                </a:solidFill>
                <a:latin typeface="Microsoft YaHei" pitchFamily="34" charset="0"/>
                <a:ea typeface="Microsoft YaHei" pitchFamily="34" charset="-122"/>
                <a:cs typeface="Microsoft YaHei" pitchFamily="34" charset="-120"/>
              </a:rPr>
              <a:t>🟠  C 依赖 A → 必须等 A 完成才能开始</a:t>
            </a:r>
            <a:endParaRPr lang="en-US" sz="1200" dirty="0"/>
          </a:p>
        </p:txBody>
      </p:sp>
      <p:sp>
        <p:nvSpPr>
          <p:cNvPr id="19" name="Text 17"/>
          <p:cNvSpPr/>
          <p:nvPr/>
        </p:nvSpPr>
        <p:spPr>
          <a:xfrm>
            <a:off x="1371600" y="4114800"/>
            <a:ext cx="6400800" cy="320040"/>
          </a:xfrm>
          <a:prstGeom prst="rect">
            <a:avLst/>
          </a:prstGeom>
          <a:noFill/>
          <a:ln/>
        </p:spPr>
        <p:txBody>
          <a:bodyPr wrap="square" rtlCol="0" anchor="ctr"/>
          <a:lstStyle/>
          <a:p>
            <a:pPr marL="0" indent="0" algn="l">
              <a:buNone/>
            </a:pPr>
            <a:r>
              <a:rPr lang="en-US" sz="1200" dirty="0">
                <a:solidFill>
                  <a:srgbClr val="2E7D32"/>
                </a:solidFill>
                <a:latin typeface="Microsoft YaHei" pitchFamily="34" charset="0"/>
                <a:ea typeface="Microsoft YaHei" pitchFamily="34" charset="-122"/>
                <a:cs typeface="Microsoft YaHei" pitchFamily="34" charset="-120"/>
              </a:rPr>
              <a:t>🟢  D 依赖 B 和 C → 必须等两个都完成</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34A853"/>
                </a:solidFill>
                <a:latin typeface="Microsoft YaHei" pitchFamily="34" charset="0"/>
                <a:ea typeface="Microsoft YaHei" pitchFamily="34" charset="-122"/>
                <a:cs typeface="Microsoft YaHei" pitchFamily="34" charset="-120"/>
              </a:rPr>
              <a:t>第四步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execute — "真正动手做"</a:t>
            </a:r>
            <a:endParaRPr lang="en-US" sz="2400" dirty="0"/>
          </a:p>
        </p:txBody>
      </p:sp>
      <p:sp>
        <p:nvSpPr>
          <p:cNvPr id="5" name="Text 3"/>
          <p:cNvSpPr/>
          <p:nvPr/>
        </p:nvSpPr>
        <p:spPr>
          <a:xfrm>
            <a:off x="731520" y="1051560"/>
            <a:ext cx="3657600" cy="320040"/>
          </a:xfrm>
          <a:prstGeom prst="rect">
            <a:avLst/>
          </a:prstGeom>
          <a:noFill/>
          <a:ln/>
        </p:spPr>
        <p:txBody>
          <a:bodyPr wrap="square" rtlCol="0" anchor="ctr"/>
          <a:lstStyle/>
          <a:p>
            <a:pPr marL="0" indent="0" algn="l">
              <a:buNone/>
            </a:pPr>
            <a:r>
              <a:rPr lang="en-US" sz="1600" b="1" dirty="0">
                <a:solidFill>
                  <a:srgbClr val="232F3E"/>
                </a:solidFill>
                <a:latin typeface="Microsoft YaHei" pitchFamily="34" charset="0"/>
                <a:ea typeface="Microsoft YaHei" pitchFamily="34" charset="-122"/>
                <a:cs typeface="Microsoft YaHei" pitchFamily="34" charset="-120"/>
              </a:rPr>
              <a:t>调度员模式</a:t>
            </a:r>
            <a:endParaRPr lang="en-US" sz="1600" dirty="0"/>
          </a:p>
        </p:txBody>
      </p:sp>
      <p:sp>
        <p:nvSpPr>
          <p:cNvPr id="6" name="Text 4"/>
          <p:cNvSpPr/>
          <p:nvPr/>
        </p:nvSpPr>
        <p:spPr>
          <a:xfrm>
            <a:off x="731520" y="1371600"/>
            <a:ext cx="3840480" cy="548640"/>
          </a:xfrm>
          <a:prstGeom prst="rect">
            <a:avLst/>
          </a:prstGeom>
          <a:noFill/>
          <a:ln/>
        </p:spPr>
        <p:txBody>
          <a:bodyPr wrap="square" rtlCol="0" anchor="ctr"/>
          <a:lstStyle/>
          <a:p>
            <a:pPr marL="0" indent="0" algn="l">
              <a:lnSpc>
                <a:spcPct val="130000"/>
              </a:lnSpc>
              <a:buNone/>
            </a:pPr>
            <a:r>
              <a:rPr lang="en-US" sz="1100" dirty="0">
                <a:solidFill>
                  <a:srgbClr val="444444"/>
                </a:solidFill>
                <a:latin typeface="Microsoft YaHei" pitchFamily="34" charset="0"/>
                <a:ea typeface="Microsoft YaHei" pitchFamily="34" charset="-122"/>
                <a:cs typeface="Microsoft YaHei" pitchFamily="34" charset="-120"/>
              </a:rPr>
              <a:t>execute 本身不写代码，它是一个调度员，</a:t>
            </a:r>
            <a:endParaRPr lang="en-US" sz="1100" dirty="0"/>
          </a:p>
          <a:p>
            <a:pPr marL="0" indent="0" algn="l">
              <a:lnSpc>
                <a:spcPct val="130000"/>
              </a:lnSpc>
              <a:buNone/>
            </a:pPr>
            <a:r>
              <a:rPr lang="en-US" sz="1100" dirty="0">
                <a:solidFill>
                  <a:srgbClr val="444444"/>
                </a:solidFill>
                <a:latin typeface="Microsoft YaHei" pitchFamily="34" charset="0"/>
                <a:ea typeface="Microsoft YaHei" pitchFamily="34" charset="-122"/>
                <a:cs typeface="Microsoft YaHei" pitchFamily="34" charset="-120"/>
              </a:rPr>
              <a:t>把任务分配给专门的子 Agent 去执行。</a:t>
            </a:r>
            <a:endParaRPr lang="en-US" sz="1100" dirty="0"/>
          </a:p>
        </p:txBody>
      </p:sp>
      <p:sp>
        <p:nvSpPr>
          <p:cNvPr id="7" name="Shape 5"/>
          <p:cNvSpPr/>
          <p:nvPr/>
        </p:nvSpPr>
        <p:spPr>
          <a:xfrm>
            <a:off x="731520" y="2011680"/>
            <a:ext cx="3840480" cy="1463040"/>
          </a:xfrm>
          <a:prstGeom prst="roundRect">
            <a:avLst>
              <a:gd name="adj" fmla="val 5000"/>
            </a:avLst>
          </a:prstGeom>
          <a:solidFill>
            <a:srgbClr val="FFF8E1"/>
          </a:solidFill>
          <a:ln w="12700">
            <a:solidFill>
              <a:srgbClr val="FFE082"/>
            </a:solidFill>
            <a:prstDash val="solid"/>
          </a:ln>
        </p:spPr>
        <p:txBody>
          <a:bodyPr/>
          <a:lstStyle/>
          <a:p>
            <a:endParaRPr lang="en-CN"/>
          </a:p>
        </p:txBody>
      </p:sp>
      <p:sp>
        <p:nvSpPr>
          <p:cNvPr id="8" name="Text 6"/>
          <p:cNvSpPr/>
          <p:nvPr/>
        </p:nvSpPr>
        <p:spPr>
          <a:xfrm>
            <a:off x="868680" y="2103120"/>
            <a:ext cx="3566160" cy="320040"/>
          </a:xfrm>
          <a:prstGeom prst="rect">
            <a:avLst/>
          </a:prstGeom>
          <a:noFill/>
          <a:ln/>
        </p:spPr>
        <p:txBody>
          <a:bodyPr wrap="square" rtlCol="0" anchor="ctr"/>
          <a:lstStyle/>
          <a:p>
            <a:pPr marL="0" indent="0" algn="l">
              <a:buNone/>
            </a:pPr>
            <a:r>
              <a:rPr lang="en-US" sz="1300" b="1" dirty="0">
                <a:solidFill>
                  <a:srgbClr val="232F3E"/>
                </a:solidFill>
                <a:latin typeface="Microsoft YaHei" pitchFamily="34" charset="0"/>
                <a:ea typeface="Microsoft YaHei" pitchFamily="34" charset="-122"/>
                <a:cs typeface="Microsoft YaHei" pitchFamily="34" charset="-120"/>
              </a:rPr>
              <a:t>🏗️  类比：工地施工队长</a:t>
            </a:r>
            <a:endParaRPr lang="en-US" sz="1300" dirty="0"/>
          </a:p>
        </p:txBody>
      </p:sp>
      <p:sp>
        <p:nvSpPr>
          <p:cNvPr id="9" name="Text 7"/>
          <p:cNvSpPr/>
          <p:nvPr/>
        </p:nvSpPr>
        <p:spPr>
          <a:xfrm>
            <a:off x="868680" y="2468880"/>
            <a:ext cx="3566160" cy="914400"/>
          </a:xfrm>
          <a:prstGeom prst="rect">
            <a:avLst/>
          </a:prstGeom>
          <a:noFill/>
          <a:ln/>
        </p:spPr>
        <p:txBody>
          <a:bodyPr wrap="square" rtlCol="0" anchor="t"/>
          <a:lstStyle/>
          <a:p>
            <a:pPr marL="0" indent="0" algn="l">
              <a:lnSpc>
                <a:spcPct val="150000"/>
              </a:lnSpc>
              <a:buNone/>
            </a:pPr>
            <a:r>
              <a:rPr lang="en-US" sz="1000" dirty="0">
                <a:solidFill>
                  <a:srgbClr val="444444"/>
                </a:solidFill>
                <a:latin typeface="Microsoft YaHei" pitchFamily="34" charset="0"/>
                <a:ea typeface="Microsoft YaHei" pitchFamily="34" charset="-122"/>
                <a:cs typeface="Microsoft YaHei" pitchFamily="34" charset="-120"/>
              </a:rPr>
              <a:t>• 地基、水电、外墙可以同时施工</a:t>
            </a:r>
            <a:endParaRPr lang="en-US" sz="1000" dirty="0"/>
          </a:p>
          <a:p>
            <a:pPr marL="0" indent="0" algn="l">
              <a:lnSpc>
                <a:spcPct val="150000"/>
              </a:lnSpc>
              <a:buNone/>
            </a:pPr>
            <a:r>
              <a:rPr lang="en-US" sz="1000" dirty="0">
                <a:solidFill>
                  <a:srgbClr val="444444"/>
                </a:solidFill>
                <a:latin typeface="Microsoft YaHei" pitchFamily="34" charset="0"/>
                <a:ea typeface="Microsoft YaHei" pitchFamily="34" charset="-122"/>
                <a:cs typeface="Microsoft YaHei" pitchFamily="34" charset="-120"/>
              </a:rPr>
              <a:t>• 内装修必须等主体结构完成</a:t>
            </a:r>
            <a:endParaRPr lang="en-US" sz="1000" dirty="0"/>
          </a:p>
          <a:p>
            <a:pPr marL="0" indent="0" algn="l">
              <a:lnSpc>
                <a:spcPct val="150000"/>
              </a:lnSpc>
              <a:buNone/>
            </a:pPr>
            <a:r>
              <a:rPr lang="en-US" sz="1000" dirty="0">
                <a:solidFill>
                  <a:srgbClr val="444444"/>
                </a:solidFill>
                <a:latin typeface="Microsoft YaHei" pitchFamily="34" charset="0"/>
                <a:ea typeface="Microsoft YaHei" pitchFamily="34" charset="-122"/>
                <a:cs typeface="Microsoft YaHei" pitchFamily="34" charset="-120"/>
              </a:rPr>
              <a:t>• 队长不自己搬砖，但知道谁该先干、谁可以同时干</a:t>
            </a:r>
            <a:endParaRPr lang="en-US" sz="1000" dirty="0"/>
          </a:p>
        </p:txBody>
      </p:sp>
      <p:sp>
        <p:nvSpPr>
          <p:cNvPr id="10" name="Text 8"/>
          <p:cNvSpPr/>
          <p:nvPr/>
        </p:nvSpPr>
        <p:spPr>
          <a:xfrm>
            <a:off x="4937760" y="1051560"/>
            <a:ext cx="3657600" cy="320040"/>
          </a:xfrm>
          <a:prstGeom prst="rect">
            <a:avLst/>
          </a:prstGeom>
          <a:noFill/>
          <a:ln/>
        </p:spPr>
        <p:txBody>
          <a:bodyPr wrap="square" rtlCol="0" anchor="ctr"/>
          <a:lstStyle/>
          <a:p>
            <a:pPr marL="0" indent="0" algn="l">
              <a:buNone/>
            </a:pPr>
            <a:r>
              <a:rPr lang="en-US" sz="1600" b="1" dirty="0">
                <a:solidFill>
                  <a:srgbClr val="232F3E"/>
                </a:solidFill>
                <a:latin typeface="Microsoft YaHei" pitchFamily="34" charset="0"/>
                <a:ea typeface="Microsoft YaHei" pitchFamily="34" charset="-122"/>
                <a:cs typeface="Microsoft YaHei" pitchFamily="34" charset="-120"/>
              </a:rPr>
              <a:t>核心机制</a:t>
            </a:r>
            <a:endParaRPr lang="en-US" sz="1600" dirty="0"/>
          </a:p>
        </p:txBody>
      </p:sp>
      <p:sp>
        <p:nvSpPr>
          <p:cNvPr id="11" name="Shape 9"/>
          <p:cNvSpPr/>
          <p:nvPr/>
        </p:nvSpPr>
        <p:spPr>
          <a:xfrm>
            <a:off x="4937760" y="1417320"/>
            <a:ext cx="3474720" cy="640080"/>
          </a:xfrm>
          <a:prstGeom prst="roundRect">
            <a:avLst>
              <a:gd name="adj" fmla="val 7143"/>
            </a:avLst>
          </a:prstGeom>
          <a:solidFill>
            <a:srgbClr val="E3F2FD"/>
          </a:solidFill>
          <a:ln w="12700">
            <a:solidFill>
              <a:srgbClr val="90CAF9"/>
            </a:solidFill>
            <a:prstDash val="solid"/>
          </a:ln>
        </p:spPr>
        <p:txBody>
          <a:bodyPr/>
          <a:lstStyle/>
          <a:p>
            <a:endParaRPr lang="en-CN"/>
          </a:p>
        </p:txBody>
      </p:sp>
      <p:sp>
        <p:nvSpPr>
          <p:cNvPr id="12" name="Text 10"/>
          <p:cNvSpPr/>
          <p:nvPr/>
        </p:nvSpPr>
        <p:spPr>
          <a:xfrm>
            <a:off x="5074920" y="1444752"/>
            <a:ext cx="3200400" cy="256032"/>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  并行派发</a:t>
            </a:r>
            <a:endParaRPr lang="en-US" sz="1200" dirty="0"/>
          </a:p>
        </p:txBody>
      </p:sp>
      <p:sp>
        <p:nvSpPr>
          <p:cNvPr id="13" name="Text 11"/>
          <p:cNvSpPr/>
          <p:nvPr/>
        </p:nvSpPr>
        <p:spPr>
          <a:xfrm>
            <a:off x="5074920" y="1709928"/>
            <a:ext cx="3200400" cy="301752"/>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无依赖关系的任务在同一时刻全部发出，让多个 Agent 并行工作</a:t>
            </a:r>
            <a:endParaRPr lang="en-US" sz="900" dirty="0"/>
          </a:p>
        </p:txBody>
      </p:sp>
      <p:sp>
        <p:nvSpPr>
          <p:cNvPr id="14" name="Shape 12"/>
          <p:cNvSpPr/>
          <p:nvPr/>
        </p:nvSpPr>
        <p:spPr>
          <a:xfrm>
            <a:off x="4937760" y="2148840"/>
            <a:ext cx="3474720" cy="640080"/>
          </a:xfrm>
          <a:prstGeom prst="roundRect">
            <a:avLst>
              <a:gd name="adj" fmla="val 7143"/>
            </a:avLst>
          </a:prstGeom>
          <a:solidFill>
            <a:srgbClr val="FFF3E0"/>
          </a:solidFill>
          <a:ln w="12700">
            <a:solidFill>
              <a:srgbClr val="FFB74D"/>
            </a:solidFill>
            <a:prstDash val="solid"/>
          </a:ln>
        </p:spPr>
        <p:txBody>
          <a:bodyPr/>
          <a:lstStyle/>
          <a:p>
            <a:endParaRPr lang="en-CN"/>
          </a:p>
        </p:txBody>
      </p:sp>
      <p:sp>
        <p:nvSpPr>
          <p:cNvPr id="15" name="Text 13"/>
          <p:cNvSpPr/>
          <p:nvPr/>
        </p:nvSpPr>
        <p:spPr>
          <a:xfrm>
            <a:off x="5074920" y="2176272"/>
            <a:ext cx="3200400" cy="256032"/>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  失败重试</a:t>
            </a:r>
            <a:endParaRPr lang="en-US" sz="1200" dirty="0"/>
          </a:p>
        </p:txBody>
      </p:sp>
      <p:sp>
        <p:nvSpPr>
          <p:cNvPr id="16" name="Text 14"/>
          <p:cNvSpPr/>
          <p:nvPr/>
        </p:nvSpPr>
        <p:spPr>
          <a:xfrm>
            <a:off x="5074920" y="2441448"/>
            <a:ext cx="3200400" cy="301752"/>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如果某个 Agent 执行失败，会自动重试一次，把失败原因也告诉它让它修正</a:t>
            </a:r>
            <a:endParaRPr lang="en-US" sz="900" dirty="0"/>
          </a:p>
        </p:txBody>
      </p:sp>
      <p:sp>
        <p:nvSpPr>
          <p:cNvPr id="17" name="Shape 15"/>
          <p:cNvSpPr/>
          <p:nvPr/>
        </p:nvSpPr>
        <p:spPr>
          <a:xfrm>
            <a:off x="4937760" y="2880360"/>
            <a:ext cx="3474720" cy="640080"/>
          </a:xfrm>
          <a:prstGeom prst="roundRect">
            <a:avLst>
              <a:gd name="adj" fmla="val 7143"/>
            </a:avLst>
          </a:prstGeom>
          <a:solidFill>
            <a:srgbClr val="F3E5F5"/>
          </a:solidFill>
          <a:ln w="12700">
            <a:solidFill>
              <a:srgbClr val="CE93D8"/>
            </a:solidFill>
            <a:prstDash val="solid"/>
          </a:ln>
        </p:spPr>
        <p:txBody>
          <a:bodyPr/>
          <a:lstStyle/>
          <a:p>
            <a:endParaRPr lang="en-CN"/>
          </a:p>
        </p:txBody>
      </p:sp>
      <p:sp>
        <p:nvSpPr>
          <p:cNvPr id="18" name="Text 16"/>
          <p:cNvSpPr/>
          <p:nvPr/>
        </p:nvSpPr>
        <p:spPr>
          <a:xfrm>
            <a:off x="5074920" y="2907792"/>
            <a:ext cx="3200400" cy="256032"/>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  Oracle 汇总审查</a:t>
            </a:r>
            <a:endParaRPr lang="en-US" sz="1200" dirty="0"/>
          </a:p>
        </p:txBody>
      </p:sp>
      <p:sp>
        <p:nvSpPr>
          <p:cNvPr id="19" name="Text 17"/>
          <p:cNvSpPr/>
          <p:nvPr/>
        </p:nvSpPr>
        <p:spPr>
          <a:xfrm>
            <a:off x="5074920" y="3172968"/>
            <a:ext cx="3200400" cy="301752"/>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所有任务完成后做一次汇总审查，确认质量达标，然后写回最终状态</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1828800" cy="320040"/>
          </a:xfrm>
          <a:prstGeom prst="rect">
            <a:avLst/>
          </a:prstGeom>
          <a:noFill/>
          <a:ln/>
        </p:spPr>
        <p:txBody>
          <a:bodyPr wrap="square" rtlCol="0" anchor="ctr"/>
          <a:lstStyle/>
          <a:p>
            <a:pPr marL="0" indent="0" algn="l">
              <a:buNone/>
            </a:pPr>
            <a:r>
              <a:rPr lang="en-US" sz="1400" dirty="0">
                <a:solidFill>
                  <a:srgbClr val="34A853"/>
                </a:solidFill>
                <a:latin typeface="Microsoft YaHei" pitchFamily="34" charset="0"/>
                <a:ea typeface="Microsoft YaHei" pitchFamily="34" charset="-122"/>
                <a:cs typeface="Microsoft YaHei" pitchFamily="34" charset="-120"/>
              </a:rPr>
              <a:t>第四步</a:t>
            </a:r>
            <a:endParaRPr lang="en-US" sz="1400" dirty="0"/>
          </a:p>
        </p:txBody>
      </p:sp>
      <p:sp>
        <p:nvSpPr>
          <p:cNvPr id="4" name="Text 2"/>
          <p:cNvSpPr/>
          <p:nvPr/>
        </p:nvSpPr>
        <p:spPr>
          <a:xfrm>
            <a:off x="731520" y="457200"/>
            <a:ext cx="7680960" cy="457200"/>
          </a:xfrm>
          <a:prstGeom prst="rect">
            <a:avLst/>
          </a:prstGeom>
          <a:noFill/>
          <a:ln/>
        </p:spPr>
        <p:txBody>
          <a:bodyPr wrap="square" rtlCol="0" anchor="ctr"/>
          <a:lstStyle/>
          <a:p>
            <a:pPr marL="0" indent="0" algn="l">
              <a:buNone/>
            </a:pPr>
            <a:r>
              <a:rPr lang="en-US" sz="2400" dirty="0">
                <a:solidFill>
                  <a:srgbClr val="232F3E"/>
                </a:solidFill>
                <a:latin typeface="Microsoft YaHei" pitchFamily="34" charset="0"/>
                <a:ea typeface="Microsoft YaHei" pitchFamily="34" charset="-122"/>
                <a:cs typeface="Microsoft YaHei" pitchFamily="34" charset="-120"/>
              </a:rPr>
              <a:t>execute 的产出 — 4 个文件</a:t>
            </a:r>
            <a:endParaRPr lang="en-US" sz="2400" dirty="0"/>
          </a:p>
        </p:txBody>
      </p:sp>
      <p:sp>
        <p:nvSpPr>
          <p:cNvPr id="5" name="Shape 3"/>
          <p:cNvSpPr/>
          <p:nvPr/>
        </p:nvSpPr>
        <p:spPr>
          <a:xfrm>
            <a:off x="3657600" y="1280160"/>
            <a:ext cx="1828800" cy="914400"/>
          </a:xfrm>
          <a:prstGeom prst="ellipse">
            <a:avLst/>
          </a:prstGeom>
          <a:solidFill>
            <a:srgbClr val="FF9900"/>
          </a:solidFill>
          <a:ln/>
        </p:spPr>
        <p:txBody>
          <a:bodyPr/>
          <a:lstStyle/>
          <a:p>
            <a:endParaRPr lang="en-CN"/>
          </a:p>
        </p:txBody>
      </p:sp>
      <p:sp>
        <p:nvSpPr>
          <p:cNvPr id="6" name="Text 4"/>
          <p:cNvSpPr/>
          <p:nvPr/>
        </p:nvSpPr>
        <p:spPr>
          <a:xfrm>
            <a:off x="3657600" y="1280160"/>
            <a:ext cx="1828800" cy="914400"/>
          </a:xfrm>
          <a:prstGeom prst="rect">
            <a:avLst/>
          </a:prstGeom>
          <a:noFill/>
          <a:ln/>
        </p:spPr>
        <p:txBody>
          <a:bodyPr wrap="square"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a:t>
            </a:r>
            <a:endParaRPr lang="en-US" sz="1400" dirty="0"/>
          </a:p>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Skill</a:t>
            </a:r>
            <a:endParaRPr lang="en-US" sz="1400" dirty="0"/>
          </a:p>
        </p:txBody>
      </p:sp>
      <p:sp>
        <p:nvSpPr>
          <p:cNvPr id="7" name="Shape 5"/>
          <p:cNvSpPr/>
          <p:nvPr/>
        </p:nvSpPr>
        <p:spPr>
          <a:xfrm>
            <a:off x="548640" y="2560320"/>
            <a:ext cx="1874520" cy="1645920"/>
          </a:xfrm>
          <a:prstGeom prst="roundRect">
            <a:avLst>
              <a:gd name="adj" fmla="val 4444"/>
            </a:avLst>
          </a:prstGeom>
          <a:solidFill>
            <a:srgbClr val="F5F5F5"/>
          </a:solidFill>
          <a:ln w="12700">
            <a:solidFill>
              <a:srgbClr val="E8E8E8"/>
            </a:solidFill>
            <a:prstDash val="solid"/>
          </a:ln>
        </p:spPr>
        <p:txBody>
          <a:bodyPr/>
          <a:lstStyle/>
          <a:p>
            <a:endParaRPr lang="en-CN"/>
          </a:p>
        </p:txBody>
      </p:sp>
      <p:sp>
        <p:nvSpPr>
          <p:cNvPr id="8" name="Text 6"/>
          <p:cNvSpPr/>
          <p:nvPr/>
        </p:nvSpPr>
        <p:spPr>
          <a:xfrm>
            <a:off x="548640" y="2697480"/>
            <a:ext cx="187452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640080" y="3108960"/>
            <a:ext cx="1691640" cy="320040"/>
          </a:xfrm>
          <a:prstGeom prst="rect">
            <a:avLst/>
          </a:prstGeom>
          <a:noFill/>
          <a:ln/>
        </p:spPr>
        <p:txBody>
          <a:bodyPr wrap="square" rtlCol="0" anchor="ctr"/>
          <a:lstStyle/>
          <a:p>
            <a:pPr marL="0" indent="0" algn="ctr">
              <a:buNone/>
            </a:pPr>
            <a:r>
              <a:rPr lang="en-US" sz="1000" b="1" dirty="0">
                <a:solidFill>
                  <a:srgbClr val="232F3E"/>
                </a:solidFill>
                <a:latin typeface="Microsoft YaHei" pitchFamily="34" charset="0"/>
                <a:ea typeface="Microsoft YaHei" pitchFamily="34" charset="-122"/>
                <a:cs typeface="Microsoft YaHei" pitchFamily="34" charset="-120"/>
              </a:rPr>
              <a:t>SKILL.md</a:t>
            </a:r>
            <a:endParaRPr lang="en-US" sz="1000" dirty="0"/>
          </a:p>
        </p:txBody>
      </p:sp>
      <p:sp>
        <p:nvSpPr>
          <p:cNvPr id="10" name="Text 8"/>
          <p:cNvSpPr/>
          <p:nvPr/>
        </p:nvSpPr>
        <p:spPr>
          <a:xfrm>
            <a:off x="640080" y="3474720"/>
            <a:ext cx="1691640" cy="640080"/>
          </a:xfrm>
          <a:prstGeom prst="rect">
            <a:avLst/>
          </a:prstGeom>
          <a:noFill/>
          <a:ln/>
        </p:spPr>
        <p:txBody>
          <a:bodyPr wrap="square" rtlCol="0" anchor="t"/>
          <a:lstStyle/>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Skill 的主指令文件</a:t>
            </a:r>
            <a:endParaRPr lang="en-US" sz="900" dirty="0"/>
          </a:p>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定义 AI 如何工作</a:t>
            </a:r>
            <a:endParaRPr lang="en-US" sz="900" dirty="0"/>
          </a:p>
        </p:txBody>
      </p:sp>
      <p:sp>
        <p:nvSpPr>
          <p:cNvPr id="11" name="Shape 9"/>
          <p:cNvSpPr/>
          <p:nvPr/>
        </p:nvSpPr>
        <p:spPr>
          <a:xfrm>
            <a:off x="2606040" y="2560320"/>
            <a:ext cx="1874520" cy="1645920"/>
          </a:xfrm>
          <a:prstGeom prst="roundRect">
            <a:avLst>
              <a:gd name="adj" fmla="val 4444"/>
            </a:avLst>
          </a:prstGeom>
          <a:solidFill>
            <a:srgbClr val="F5F5F5"/>
          </a:solidFill>
          <a:ln w="12700">
            <a:solidFill>
              <a:srgbClr val="E8E8E8"/>
            </a:solidFill>
            <a:prstDash val="solid"/>
          </a:ln>
        </p:spPr>
        <p:txBody>
          <a:bodyPr/>
          <a:lstStyle/>
          <a:p>
            <a:endParaRPr lang="en-CN"/>
          </a:p>
        </p:txBody>
      </p:sp>
      <p:sp>
        <p:nvSpPr>
          <p:cNvPr id="12" name="Text 10"/>
          <p:cNvSpPr/>
          <p:nvPr/>
        </p:nvSpPr>
        <p:spPr>
          <a:xfrm>
            <a:off x="2606040" y="2697480"/>
            <a:ext cx="187452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2697480" y="3108960"/>
            <a:ext cx="1691640" cy="320040"/>
          </a:xfrm>
          <a:prstGeom prst="rect">
            <a:avLst/>
          </a:prstGeom>
          <a:noFill/>
          <a:ln/>
        </p:spPr>
        <p:txBody>
          <a:bodyPr wrap="square" rtlCol="0" anchor="ctr"/>
          <a:lstStyle/>
          <a:p>
            <a:pPr marL="0" indent="0" algn="ctr">
              <a:buNone/>
            </a:pPr>
            <a:r>
              <a:rPr lang="en-US" sz="1000" b="1" dirty="0">
                <a:solidFill>
                  <a:srgbClr val="232F3E"/>
                </a:solidFill>
                <a:latin typeface="Microsoft YaHei" pitchFamily="34" charset="0"/>
                <a:ea typeface="Microsoft YaHei" pitchFamily="34" charset="-122"/>
                <a:cs typeface="Microsoft YaHei" pitchFamily="34" charset="-120"/>
              </a:rPr>
              <a:t>component-mapping.md</a:t>
            </a:r>
            <a:endParaRPr lang="en-US" sz="1000" dirty="0"/>
          </a:p>
        </p:txBody>
      </p:sp>
      <p:sp>
        <p:nvSpPr>
          <p:cNvPr id="14" name="Text 12"/>
          <p:cNvSpPr/>
          <p:nvPr/>
        </p:nvSpPr>
        <p:spPr>
          <a:xfrm>
            <a:off x="2697480" y="3474720"/>
            <a:ext cx="1691640" cy="640080"/>
          </a:xfrm>
          <a:prstGeom prst="rect">
            <a:avLst/>
          </a:prstGeom>
          <a:noFill/>
          <a:ln/>
        </p:spPr>
        <p:txBody>
          <a:bodyPr wrap="square" rtlCol="0" anchor="t"/>
          <a:lstStyle/>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字段类型到 Element UI</a:t>
            </a:r>
            <a:endParaRPr lang="en-US" sz="900" dirty="0"/>
          </a:p>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组件的映射规则</a:t>
            </a:r>
            <a:endParaRPr lang="en-US" sz="900" dirty="0"/>
          </a:p>
        </p:txBody>
      </p:sp>
      <p:sp>
        <p:nvSpPr>
          <p:cNvPr id="15" name="Shape 13"/>
          <p:cNvSpPr/>
          <p:nvPr/>
        </p:nvSpPr>
        <p:spPr>
          <a:xfrm>
            <a:off x="4663440" y="2560320"/>
            <a:ext cx="1874520" cy="1645920"/>
          </a:xfrm>
          <a:prstGeom prst="roundRect">
            <a:avLst>
              <a:gd name="adj" fmla="val 4444"/>
            </a:avLst>
          </a:prstGeom>
          <a:solidFill>
            <a:srgbClr val="F5F5F5"/>
          </a:solidFill>
          <a:ln w="12700">
            <a:solidFill>
              <a:srgbClr val="E8E8E8"/>
            </a:solidFill>
            <a:prstDash val="solid"/>
          </a:ln>
        </p:spPr>
        <p:txBody>
          <a:bodyPr/>
          <a:lstStyle/>
          <a:p>
            <a:endParaRPr lang="en-CN"/>
          </a:p>
        </p:txBody>
      </p:sp>
      <p:sp>
        <p:nvSpPr>
          <p:cNvPr id="16" name="Text 14"/>
          <p:cNvSpPr/>
          <p:nvPr/>
        </p:nvSpPr>
        <p:spPr>
          <a:xfrm>
            <a:off x="4663440" y="2697480"/>
            <a:ext cx="187452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4754880" y="3108960"/>
            <a:ext cx="1691640" cy="320040"/>
          </a:xfrm>
          <a:prstGeom prst="rect">
            <a:avLst/>
          </a:prstGeom>
          <a:noFill/>
          <a:ln/>
        </p:spPr>
        <p:txBody>
          <a:bodyPr wrap="square" rtlCol="0" anchor="ctr"/>
          <a:lstStyle/>
          <a:p>
            <a:pPr marL="0" indent="0" algn="ctr">
              <a:buNone/>
            </a:pPr>
            <a:r>
              <a:rPr lang="en-US" sz="1000" b="1" dirty="0">
                <a:solidFill>
                  <a:srgbClr val="232F3E"/>
                </a:solidFill>
                <a:latin typeface="Microsoft YaHei" pitchFamily="34" charset="0"/>
                <a:ea typeface="Microsoft YaHei" pitchFamily="34" charset="-122"/>
                <a:cs typeface="Microsoft YaHei" pitchFamily="34" charset="-120"/>
              </a:rPr>
              <a:t>element-ui-api-cheatsheet.md</a:t>
            </a:r>
            <a:endParaRPr lang="en-US" sz="1000" dirty="0"/>
          </a:p>
        </p:txBody>
      </p:sp>
      <p:sp>
        <p:nvSpPr>
          <p:cNvPr id="18" name="Text 16"/>
          <p:cNvSpPr/>
          <p:nvPr/>
        </p:nvSpPr>
        <p:spPr>
          <a:xfrm>
            <a:off x="4754880" y="3474720"/>
            <a:ext cx="1691640" cy="640080"/>
          </a:xfrm>
          <a:prstGeom prst="rect">
            <a:avLst/>
          </a:prstGeom>
          <a:noFill/>
          <a:ln/>
        </p:spPr>
        <p:txBody>
          <a:bodyPr wrap="square" rtlCol="0" anchor="t"/>
          <a:lstStyle/>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API 速查手册</a:t>
            </a:r>
            <a:endParaRPr lang="en-US" sz="900" dirty="0"/>
          </a:p>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防止 AI 用错版本</a:t>
            </a:r>
            <a:endParaRPr lang="en-US" sz="900" dirty="0"/>
          </a:p>
        </p:txBody>
      </p:sp>
      <p:sp>
        <p:nvSpPr>
          <p:cNvPr id="19" name="Shape 17"/>
          <p:cNvSpPr/>
          <p:nvPr/>
        </p:nvSpPr>
        <p:spPr>
          <a:xfrm>
            <a:off x="6720840" y="2560320"/>
            <a:ext cx="1874520" cy="1645920"/>
          </a:xfrm>
          <a:prstGeom prst="roundRect">
            <a:avLst>
              <a:gd name="adj" fmla="val 4444"/>
            </a:avLst>
          </a:prstGeom>
          <a:solidFill>
            <a:srgbClr val="F5F5F5"/>
          </a:solidFill>
          <a:ln w="12700">
            <a:solidFill>
              <a:srgbClr val="E8E8E8"/>
            </a:solidFill>
            <a:prstDash val="solid"/>
          </a:ln>
        </p:spPr>
        <p:txBody>
          <a:bodyPr/>
          <a:lstStyle/>
          <a:p>
            <a:endParaRPr lang="en-CN"/>
          </a:p>
        </p:txBody>
      </p:sp>
      <p:sp>
        <p:nvSpPr>
          <p:cNvPr id="20" name="Text 18"/>
          <p:cNvSpPr/>
          <p:nvPr/>
        </p:nvSpPr>
        <p:spPr>
          <a:xfrm>
            <a:off x="6720840" y="2697480"/>
            <a:ext cx="1874520" cy="3657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6812280" y="3108960"/>
            <a:ext cx="1691640" cy="320040"/>
          </a:xfrm>
          <a:prstGeom prst="rect">
            <a:avLst/>
          </a:prstGeom>
          <a:noFill/>
          <a:ln/>
        </p:spPr>
        <p:txBody>
          <a:bodyPr wrap="square" rtlCol="0" anchor="ctr"/>
          <a:lstStyle/>
          <a:p>
            <a:pPr marL="0" indent="0" algn="ctr">
              <a:buNone/>
            </a:pPr>
            <a:r>
              <a:rPr lang="en-US" sz="1000" b="1" dirty="0">
                <a:solidFill>
                  <a:srgbClr val="232F3E"/>
                </a:solidFill>
                <a:latin typeface="Microsoft YaHei" pitchFamily="34" charset="0"/>
                <a:ea typeface="Microsoft YaHei" pitchFamily="34" charset="-122"/>
                <a:cs typeface="Microsoft YaHei" pitchFamily="34" charset="-120"/>
              </a:rPr>
              <a:t>demo-examples.md</a:t>
            </a:r>
            <a:endParaRPr lang="en-US" sz="1000" dirty="0"/>
          </a:p>
        </p:txBody>
      </p:sp>
      <p:sp>
        <p:nvSpPr>
          <p:cNvPr id="22" name="Text 20"/>
          <p:cNvSpPr/>
          <p:nvPr/>
        </p:nvSpPr>
        <p:spPr>
          <a:xfrm>
            <a:off x="6812280" y="3474720"/>
            <a:ext cx="1691640" cy="640080"/>
          </a:xfrm>
          <a:prstGeom prst="rect">
            <a:avLst/>
          </a:prstGeom>
          <a:noFill/>
          <a:ln/>
        </p:spPr>
        <p:txBody>
          <a:bodyPr wrap="square" rtlCol="0" anchor="t"/>
          <a:lstStyle/>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两个完整的 PRD→HTML 示例</a:t>
            </a:r>
            <a:endParaRPr lang="en-US" sz="900" dirty="0"/>
          </a:p>
          <a:p>
            <a:pPr marL="0" indent="0" algn="ctr">
              <a:lnSpc>
                <a:spcPct val="130000"/>
              </a:lnSpc>
              <a:buNone/>
            </a:pPr>
            <a:r>
              <a:rPr lang="en-US" sz="900" dirty="0">
                <a:solidFill>
                  <a:srgbClr val="444444"/>
                </a:solidFill>
                <a:latin typeface="Microsoft YaHei" pitchFamily="34" charset="0"/>
                <a:ea typeface="Microsoft YaHei" pitchFamily="34" charset="-122"/>
                <a:cs typeface="Microsoft YaHei" pitchFamily="34" charset="-120"/>
              </a:rPr>
              <a:t>作为生成参考</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4572000" cy="457200"/>
          </a:xfrm>
          <a:prstGeom prst="rect">
            <a:avLst/>
          </a:prstGeom>
          <a:noFill/>
          <a:ln/>
        </p:spPr>
        <p:txBody>
          <a:bodyPr wrap="square" rtlCol="0" anchor="ctr"/>
          <a:lstStyle/>
          <a:p>
            <a:pPr marL="0" indent="0" algn="l">
              <a:buNone/>
            </a:pPr>
            <a:r>
              <a:rPr lang="en-US" sz="2800" dirty="0">
                <a:solidFill>
                  <a:srgbClr val="232F3E"/>
                </a:solidFill>
                <a:latin typeface="Microsoft YaHei" pitchFamily="34" charset="0"/>
                <a:ea typeface="Microsoft YaHei" pitchFamily="34" charset="-122"/>
                <a:cs typeface="Microsoft YaHei" pitchFamily="34" charset="-120"/>
              </a:rPr>
              <a:t>验证测试</a:t>
            </a:r>
            <a:endParaRPr lang="en-US" sz="2800" dirty="0"/>
          </a:p>
        </p:txBody>
      </p:sp>
      <p:sp>
        <p:nvSpPr>
          <p:cNvPr id="4" name="Text 2"/>
          <p:cNvSpPr/>
          <p:nvPr/>
        </p:nvSpPr>
        <p:spPr>
          <a:xfrm>
            <a:off x="731520" y="594360"/>
            <a:ext cx="7680960" cy="320040"/>
          </a:xfrm>
          <a:prstGeom prst="rect">
            <a:avLst/>
          </a:prstGeom>
          <a:noFill/>
          <a:ln/>
        </p:spPr>
        <p:txBody>
          <a:bodyPr wrap="square" rtlCol="0" anchor="ctr"/>
          <a:lstStyle/>
          <a:p>
            <a:pPr marL="0" indent="0" algn="l">
              <a:buNone/>
            </a:pPr>
            <a:r>
              <a:rPr lang="en-US" sz="1300" dirty="0">
                <a:solidFill>
                  <a:srgbClr val="888888"/>
                </a:solidFill>
                <a:latin typeface="Microsoft YaHei" pitchFamily="34" charset="0"/>
                <a:ea typeface="Microsoft YaHei" pitchFamily="34" charset="-122"/>
                <a:cs typeface="Microsoft YaHei" pitchFamily="34" charset="-120"/>
              </a:rPr>
              <a:t>用真实需求检验 — 三个测试全部通过</a:t>
            </a:r>
            <a:endParaRPr lang="en-US" sz="1300" dirty="0"/>
          </a:p>
        </p:txBody>
      </p:sp>
      <p:sp>
        <p:nvSpPr>
          <p:cNvPr id="5" name="Shape 3"/>
          <p:cNvSpPr/>
          <p:nvPr/>
        </p:nvSpPr>
        <p:spPr>
          <a:xfrm>
            <a:off x="731520" y="1097280"/>
            <a:ext cx="7680960" cy="1097280"/>
          </a:xfrm>
          <a:prstGeom prst="roundRect">
            <a:avLst>
              <a:gd name="adj" fmla="val 6667"/>
            </a:avLst>
          </a:prstGeom>
          <a:solidFill>
            <a:srgbClr val="E8F5E9"/>
          </a:solidFill>
          <a:ln w="12700">
            <a:solidFill>
              <a:srgbClr val="81C784"/>
            </a:solidFill>
            <a:prstDash val="solid"/>
          </a:ln>
        </p:spPr>
        <p:txBody>
          <a:bodyPr/>
          <a:lstStyle/>
          <a:p>
            <a:endParaRPr lang="en-CN"/>
          </a:p>
        </p:txBody>
      </p:sp>
      <p:sp>
        <p:nvSpPr>
          <p:cNvPr id="6" name="Text 4"/>
          <p:cNvSpPr/>
          <p:nvPr/>
        </p:nvSpPr>
        <p:spPr>
          <a:xfrm>
            <a:off x="868680" y="1143000"/>
            <a:ext cx="914400" cy="274320"/>
          </a:xfrm>
          <a:prstGeom prst="rect">
            <a:avLst/>
          </a:prstGeom>
          <a:noFill/>
          <a:ln/>
        </p:spPr>
        <p:txBody>
          <a:bodyPr wrap="square" rtlCol="0" anchor="ctr"/>
          <a:lstStyle/>
          <a:p>
            <a:pPr marL="0" indent="0" algn="l">
              <a:buNone/>
            </a:pPr>
            <a:r>
              <a:rPr lang="en-US" sz="1000" b="1" dirty="0">
                <a:solidFill>
                  <a:srgbClr val="2E7D32"/>
                </a:solidFill>
                <a:latin typeface="Microsoft YaHei" pitchFamily="34" charset="0"/>
                <a:ea typeface="Microsoft YaHei" pitchFamily="34" charset="-122"/>
                <a:cs typeface="Microsoft YaHei" pitchFamily="34" charset="-120"/>
              </a:rPr>
              <a:t>测试 1</a:t>
            </a:r>
            <a:endParaRPr lang="en-US" sz="1000" dirty="0"/>
          </a:p>
        </p:txBody>
      </p:sp>
      <p:sp>
        <p:nvSpPr>
          <p:cNvPr id="7" name="Text 5"/>
          <p:cNvSpPr/>
          <p:nvPr/>
        </p:nvSpPr>
        <p:spPr>
          <a:xfrm>
            <a:off x="1828800" y="1143000"/>
            <a:ext cx="27432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信息完整的需求</a:t>
            </a:r>
            <a:endParaRPr lang="en-US" sz="1200" dirty="0"/>
          </a:p>
        </p:txBody>
      </p:sp>
      <p:sp>
        <p:nvSpPr>
          <p:cNvPr id="8" name="Text 6"/>
          <p:cNvSpPr/>
          <p:nvPr/>
        </p:nvSpPr>
        <p:spPr>
          <a:xfrm>
            <a:off x="6858000" y="1143000"/>
            <a:ext cx="1371600" cy="274320"/>
          </a:xfrm>
          <a:prstGeom prst="rect">
            <a:avLst/>
          </a:prstGeom>
          <a:noFill/>
          <a:ln/>
        </p:spPr>
        <p:txBody>
          <a:bodyPr wrap="square" rtlCol="0" anchor="ctr"/>
          <a:lstStyle/>
          <a:p>
            <a:pPr marL="0" indent="0" algn="r">
              <a:buNone/>
            </a:pPr>
            <a:r>
              <a:rPr lang="en-US" sz="1400" b="1" dirty="0">
                <a:solidFill>
                  <a:srgbClr val="2E7D32"/>
                </a:solidFill>
                <a:latin typeface="Microsoft YaHei" pitchFamily="34" charset="0"/>
                <a:ea typeface="Microsoft YaHei" pitchFamily="34" charset="-122"/>
                <a:cs typeface="Microsoft YaHei" pitchFamily="34" charset="-120"/>
              </a:rPr>
              <a:t>✅ 通过</a:t>
            </a:r>
            <a:endParaRPr lang="en-US" sz="1400" dirty="0"/>
          </a:p>
        </p:txBody>
      </p:sp>
      <p:sp>
        <p:nvSpPr>
          <p:cNvPr id="9" name="Text 7"/>
          <p:cNvSpPr/>
          <p:nvPr/>
        </p:nvSpPr>
        <p:spPr>
          <a:xfrm>
            <a:off x="868680" y="1463040"/>
            <a:ext cx="7223760" cy="274320"/>
          </a:xfrm>
          <a:prstGeom prst="rect">
            <a:avLst/>
          </a:prstGeom>
          <a:noFill/>
          <a:ln/>
        </p:spPr>
        <p:txBody>
          <a:bodyPr wrap="square" rtlCol="0" anchor="ctr"/>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输入："做一个商品管理列表，字段包括商品名称、分类、价格、库存、状态，支持新增、编辑、删除"</a:t>
            </a:r>
            <a:endParaRPr lang="en-US" sz="900" dirty="0"/>
          </a:p>
        </p:txBody>
      </p:sp>
      <p:sp>
        <p:nvSpPr>
          <p:cNvPr id="10" name="Text 8"/>
          <p:cNvSpPr/>
          <p:nvPr/>
        </p:nvSpPr>
        <p:spPr>
          <a:xfrm>
            <a:off x="868680" y="1737360"/>
            <a:ext cx="7223760" cy="365760"/>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结果：直接生成，没有追问，30 秒内出了 HTML 文件</a:t>
            </a:r>
            <a:endParaRPr lang="en-US" sz="900" dirty="0"/>
          </a:p>
        </p:txBody>
      </p:sp>
      <p:sp>
        <p:nvSpPr>
          <p:cNvPr id="11" name="Shape 9"/>
          <p:cNvSpPr/>
          <p:nvPr/>
        </p:nvSpPr>
        <p:spPr>
          <a:xfrm>
            <a:off x="731520" y="2331720"/>
            <a:ext cx="7680960" cy="1097280"/>
          </a:xfrm>
          <a:prstGeom prst="roundRect">
            <a:avLst>
              <a:gd name="adj" fmla="val 6667"/>
            </a:avLst>
          </a:prstGeom>
          <a:solidFill>
            <a:srgbClr val="E8F5E9"/>
          </a:solidFill>
          <a:ln w="12700">
            <a:solidFill>
              <a:srgbClr val="81C784"/>
            </a:solidFill>
            <a:prstDash val="solid"/>
          </a:ln>
        </p:spPr>
        <p:txBody>
          <a:bodyPr/>
          <a:lstStyle/>
          <a:p>
            <a:endParaRPr lang="en-CN"/>
          </a:p>
        </p:txBody>
      </p:sp>
      <p:sp>
        <p:nvSpPr>
          <p:cNvPr id="12" name="Text 10"/>
          <p:cNvSpPr/>
          <p:nvPr/>
        </p:nvSpPr>
        <p:spPr>
          <a:xfrm>
            <a:off x="868680" y="2377440"/>
            <a:ext cx="914400" cy="274320"/>
          </a:xfrm>
          <a:prstGeom prst="rect">
            <a:avLst/>
          </a:prstGeom>
          <a:noFill/>
          <a:ln/>
        </p:spPr>
        <p:txBody>
          <a:bodyPr wrap="square" rtlCol="0" anchor="ctr"/>
          <a:lstStyle/>
          <a:p>
            <a:pPr marL="0" indent="0" algn="l">
              <a:buNone/>
            </a:pPr>
            <a:r>
              <a:rPr lang="en-US" sz="1000" b="1" dirty="0">
                <a:solidFill>
                  <a:srgbClr val="2E7D32"/>
                </a:solidFill>
                <a:latin typeface="Microsoft YaHei" pitchFamily="34" charset="0"/>
                <a:ea typeface="Microsoft YaHei" pitchFamily="34" charset="-122"/>
                <a:cs typeface="Microsoft YaHei" pitchFamily="34" charset="-120"/>
              </a:rPr>
              <a:t>测试 2</a:t>
            </a:r>
            <a:endParaRPr lang="en-US" sz="1000" dirty="0"/>
          </a:p>
        </p:txBody>
      </p:sp>
      <p:sp>
        <p:nvSpPr>
          <p:cNvPr id="13" name="Text 11"/>
          <p:cNvSpPr/>
          <p:nvPr/>
        </p:nvSpPr>
        <p:spPr>
          <a:xfrm>
            <a:off x="1828800" y="2377440"/>
            <a:ext cx="27432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信息不完整的需求</a:t>
            </a:r>
            <a:endParaRPr lang="en-US" sz="1200" dirty="0"/>
          </a:p>
        </p:txBody>
      </p:sp>
      <p:sp>
        <p:nvSpPr>
          <p:cNvPr id="14" name="Text 12"/>
          <p:cNvSpPr/>
          <p:nvPr/>
        </p:nvSpPr>
        <p:spPr>
          <a:xfrm>
            <a:off x="6858000" y="2377440"/>
            <a:ext cx="1371600" cy="274320"/>
          </a:xfrm>
          <a:prstGeom prst="rect">
            <a:avLst/>
          </a:prstGeom>
          <a:noFill/>
          <a:ln/>
        </p:spPr>
        <p:txBody>
          <a:bodyPr wrap="square" rtlCol="0" anchor="ctr"/>
          <a:lstStyle/>
          <a:p>
            <a:pPr marL="0" indent="0" algn="r">
              <a:buNone/>
            </a:pPr>
            <a:r>
              <a:rPr lang="en-US" sz="1400" b="1" dirty="0">
                <a:solidFill>
                  <a:srgbClr val="2E7D32"/>
                </a:solidFill>
                <a:latin typeface="Microsoft YaHei" pitchFamily="34" charset="0"/>
                <a:ea typeface="Microsoft YaHei" pitchFamily="34" charset="-122"/>
                <a:cs typeface="Microsoft YaHei" pitchFamily="34" charset="-120"/>
              </a:rPr>
              <a:t>✅ 通过</a:t>
            </a:r>
            <a:endParaRPr lang="en-US" sz="1400" dirty="0"/>
          </a:p>
        </p:txBody>
      </p:sp>
      <p:sp>
        <p:nvSpPr>
          <p:cNvPr id="15" name="Text 13"/>
          <p:cNvSpPr/>
          <p:nvPr/>
        </p:nvSpPr>
        <p:spPr>
          <a:xfrm>
            <a:off x="868680" y="2697480"/>
            <a:ext cx="7223760" cy="274320"/>
          </a:xfrm>
          <a:prstGeom prst="rect">
            <a:avLst/>
          </a:prstGeom>
          <a:noFill/>
          <a:ln/>
        </p:spPr>
        <p:txBody>
          <a:bodyPr wrap="square" rtlCol="0" anchor="ctr"/>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输入："帮我生成一个员工管理页面"</a:t>
            </a:r>
            <a:endParaRPr lang="en-US" sz="900" dirty="0"/>
          </a:p>
        </p:txBody>
      </p:sp>
      <p:sp>
        <p:nvSpPr>
          <p:cNvPr id="16" name="Text 14"/>
          <p:cNvSpPr/>
          <p:nvPr/>
        </p:nvSpPr>
        <p:spPr>
          <a:xfrm>
            <a:off x="868680" y="2971800"/>
            <a:ext cx="7223760" cy="365760"/>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结果：Skill 识别到缺少字段信息，主动追问："需要展示哪些字段？"回答后又问："支持哪些操作？"两轮追问后生成</a:t>
            </a:r>
            <a:endParaRPr lang="en-US" sz="900" dirty="0"/>
          </a:p>
        </p:txBody>
      </p:sp>
      <p:sp>
        <p:nvSpPr>
          <p:cNvPr id="17" name="Shape 15"/>
          <p:cNvSpPr/>
          <p:nvPr/>
        </p:nvSpPr>
        <p:spPr>
          <a:xfrm>
            <a:off x="731520" y="3566160"/>
            <a:ext cx="7680960" cy="1097280"/>
          </a:xfrm>
          <a:prstGeom prst="roundRect">
            <a:avLst>
              <a:gd name="adj" fmla="val 6667"/>
            </a:avLst>
          </a:prstGeom>
          <a:solidFill>
            <a:srgbClr val="E8F5E9"/>
          </a:solidFill>
          <a:ln w="12700">
            <a:solidFill>
              <a:srgbClr val="81C784"/>
            </a:solidFill>
            <a:prstDash val="solid"/>
          </a:ln>
        </p:spPr>
        <p:txBody>
          <a:bodyPr/>
          <a:lstStyle/>
          <a:p>
            <a:endParaRPr lang="en-CN"/>
          </a:p>
        </p:txBody>
      </p:sp>
      <p:sp>
        <p:nvSpPr>
          <p:cNvPr id="18" name="Text 16"/>
          <p:cNvSpPr/>
          <p:nvPr/>
        </p:nvSpPr>
        <p:spPr>
          <a:xfrm>
            <a:off x="868680" y="3611880"/>
            <a:ext cx="914400" cy="274320"/>
          </a:xfrm>
          <a:prstGeom prst="rect">
            <a:avLst/>
          </a:prstGeom>
          <a:noFill/>
          <a:ln/>
        </p:spPr>
        <p:txBody>
          <a:bodyPr wrap="square" rtlCol="0" anchor="ctr"/>
          <a:lstStyle/>
          <a:p>
            <a:pPr marL="0" indent="0" algn="l">
              <a:buNone/>
            </a:pPr>
            <a:r>
              <a:rPr lang="en-US" sz="1000" b="1" dirty="0">
                <a:solidFill>
                  <a:srgbClr val="2E7D32"/>
                </a:solidFill>
                <a:latin typeface="Microsoft YaHei" pitchFamily="34" charset="0"/>
                <a:ea typeface="Microsoft YaHei" pitchFamily="34" charset="-122"/>
                <a:cs typeface="Microsoft YaHei" pitchFamily="34" charset="-120"/>
              </a:rPr>
              <a:t>测试 3</a:t>
            </a:r>
            <a:endParaRPr lang="en-US" sz="1000" dirty="0"/>
          </a:p>
        </p:txBody>
      </p:sp>
      <p:sp>
        <p:nvSpPr>
          <p:cNvPr id="19" name="Text 17"/>
          <p:cNvSpPr/>
          <p:nvPr/>
        </p:nvSpPr>
        <p:spPr>
          <a:xfrm>
            <a:off x="1828800" y="3611880"/>
            <a:ext cx="2743200" cy="274320"/>
          </a:xfrm>
          <a:prstGeom prst="rect">
            <a:avLst/>
          </a:prstGeom>
          <a:noFill/>
          <a:ln/>
        </p:spPr>
        <p:txBody>
          <a:bodyPr wrap="square" rtlCol="0" anchor="ctr"/>
          <a:lstStyle/>
          <a:p>
            <a:pPr marL="0" indent="0" algn="l">
              <a:buNone/>
            </a:pPr>
            <a:r>
              <a:rPr lang="en-US" sz="1200" b="1" dirty="0">
                <a:solidFill>
                  <a:srgbClr val="232F3E"/>
                </a:solidFill>
                <a:latin typeface="Microsoft YaHei" pitchFamily="34" charset="0"/>
                <a:ea typeface="Microsoft YaHei" pitchFamily="34" charset="-122"/>
                <a:cs typeface="Microsoft YaHei" pitchFamily="34" charset="-120"/>
              </a:rPr>
              <a:t>只需要部分功能的需求</a:t>
            </a:r>
            <a:endParaRPr lang="en-US" sz="1200" dirty="0"/>
          </a:p>
        </p:txBody>
      </p:sp>
      <p:sp>
        <p:nvSpPr>
          <p:cNvPr id="20" name="Text 18"/>
          <p:cNvSpPr/>
          <p:nvPr/>
        </p:nvSpPr>
        <p:spPr>
          <a:xfrm>
            <a:off x="6858000" y="3611880"/>
            <a:ext cx="1371600" cy="274320"/>
          </a:xfrm>
          <a:prstGeom prst="rect">
            <a:avLst/>
          </a:prstGeom>
          <a:noFill/>
          <a:ln/>
        </p:spPr>
        <p:txBody>
          <a:bodyPr wrap="square" rtlCol="0" anchor="ctr"/>
          <a:lstStyle/>
          <a:p>
            <a:pPr marL="0" indent="0" algn="r">
              <a:buNone/>
            </a:pPr>
            <a:r>
              <a:rPr lang="en-US" sz="1400" b="1" dirty="0">
                <a:solidFill>
                  <a:srgbClr val="2E7D32"/>
                </a:solidFill>
                <a:latin typeface="Microsoft YaHei" pitchFamily="34" charset="0"/>
                <a:ea typeface="Microsoft YaHei" pitchFamily="34" charset="-122"/>
                <a:cs typeface="Microsoft YaHei" pitchFamily="34" charset="-120"/>
              </a:rPr>
              <a:t>✅ 通过</a:t>
            </a:r>
            <a:endParaRPr lang="en-US" sz="1400" dirty="0"/>
          </a:p>
        </p:txBody>
      </p:sp>
      <p:sp>
        <p:nvSpPr>
          <p:cNvPr id="21" name="Text 19"/>
          <p:cNvSpPr/>
          <p:nvPr/>
        </p:nvSpPr>
        <p:spPr>
          <a:xfrm>
            <a:off x="868680" y="3931920"/>
            <a:ext cx="7223760" cy="274320"/>
          </a:xfrm>
          <a:prstGeom prst="rect">
            <a:avLst/>
          </a:prstGeom>
          <a:noFill/>
          <a:ln/>
        </p:spPr>
        <p:txBody>
          <a:bodyPr wrap="square" rtlCol="0" anchor="ctr"/>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输入："生成 DEMO：订单列表，只需要查询和删除"</a:t>
            </a:r>
            <a:endParaRPr lang="en-US" sz="900" dirty="0"/>
          </a:p>
        </p:txBody>
      </p:sp>
      <p:sp>
        <p:nvSpPr>
          <p:cNvPr id="22" name="Text 20"/>
          <p:cNvSpPr/>
          <p:nvPr/>
        </p:nvSpPr>
        <p:spPr>
          <a:xfrm>
            <a:off x="868680" y="4206240"/>
            <a:ext cx="7223760" cy="365760"/>
          </a:xfrm>
          <a:prstGeom prst="rect">
            <a:avLst/>
          </a:prstGeom>
          <a:noFill/>
          <a:ln/>
        </p:spPr>
        <p:txBody>
          <a:bodyPr wrap="square" rtlCol="0" anchor="t"/>
          <a:lstStyle/>
          <a:p>
            <a:pPr marL="0" indent="0" algn="l">
              <a:buNone/>
            </a:pPr>
            <a:r>
              <a:rPr lang="en-US" sz="900" dirty="0">
                <a:solidFill>
                  <a:srgbClr val="444444"/>
                </a:solidFill>
                <a:latin typeface="Microsoft YaHei" pitchFamily="34" charset="0"/>
                <a:ea typeface="Microsoft YaHei" pitchFamily="34" charset="-122"/>
                <a:cs typeface="Microsoft YaHei" pitchFamily="34" charset="-120"/>
              </a:rPr>
              <a:t>结果：正确识别到不需要新增和编辑，生成的 HTML 里没有新增按钮，没有弹窗，操作列只有删除</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82880"/>
            <a:ext cx="7680960" cy="457200"/>
          </a:xfrm>
          <a:prstGeom prst="rect">
            <a:avLst/>
          </a:prstGeom>
          <a:noFill/>
          <a:ln/>
        </p:spPr>
        <p:txBody>
          <a:bodyPr wrap="square" rtlCol="0" anchor="ctr"/>
          <a:lstStyle/>
          <a:p>
            <a:pPr marL="0" indent="0" algn="l">
              <a:buNone/>
            </a:pPr>
            <a:r>
              <a:rPr lang="en-US" sz="2800" dirty="0">
                <a:solidFill>
                  <a:srgbClr val="232F3E"/>
                </a:solidFill>
                <a:latin typeface="Microsoft YaHei" pitchFamily="34" charset="0"/>
                <a:ea typeface="Microsoft YaHei" pitchFamily="34" charset="-122"/>
                <a:cs typeface="Microsoft YaHei" pitchFamily="34" charset="-120"/>
              </a:rPr>
              <a:t>方法论的核心价值</a:t>
            </a:r>
            <a:endParaRPr lang="en-US" sz="2800" dirty="0"/>
          </a:p>
        </p:txBody>
      </p:sp>
      <p:sp>
        <p:nvSpPr>
          <p:cNvPr id="4" name="Shape 2"/>
          <p:cNvSpPr/>
          <p:nvPr/>
        </p:nvSpPr>
        <p:spPr>
          <a:xfrm>
            <a:off x="548640" y="822960"/>
            <a:ext cx="1828800" cy="640080"/>
          </a:xfrm>
          <a:prstGeom prst="roundRect">
            <a:avLst>
              <a:gd name="adj" fmla="val 7143"/>
            </a:avLst>
          </a:prstGeom>
          <a:solidFill>
            <a:srgbClr val="F5F5F5"/>
          </a:solidFill>
          <a:ln/>
        </p:spPr>
        <p:txBody>
          <a:bodyPr/>
          <a:lstStyle/>
          <a:p>
            <a:endParaRPr lang="en-CN"/>
          </a:p>
        </p:txBody>
      </p:sp>
      <p:sp>
        <p:nvSpPr>
          <p:cNvPr id="5" name="Shape 3"/>
          <p:cNvSpPr/>
          <p:nvPr/>
        </p:nvSpPr>
        <p:spPr>
          <a:xfrm>
            <a:off x="640080" y="896112"/>
            <a:ext cx="274320" cy="274320"/>
          </a:xfrm>
          <a:prstGeom prst="ellipse">
            <a:avLst/>
          </a:prstGeom>
          <a:solidFill>
            <a:srgbClr val="00A4B4"/>
          </a:solidFill>
          <a:ln/>
        </p:spPr>
        <p:txBody>
          <a:bodyPr/>
          <a:lstStyle/>
          <a:p>
            <a:endParaRPr lang="en-CN"/>
          </a:p>
        </p:txBody>
      </p:sp>
      <p:sp>
        <p:nvSpPr>
          <p:cNvPr id="6" name="Text 4"/>
          <p:cNvSpPr/>
          <p:nvPr/>
        </p:nvSpPr>
        <p:spPr>
          <a:xfrm>
            <a:off x="640080" y="896112"/>
            <a:ext cx="274320" cy="274320"/>
          </a:xfrm>
          <a:prstGeom prst="rect">
            <a:avLst/>
          </a:prstGeom>
          <a:noFill/>
          <a:ln/>
        </p:spPr>
        <p:txBody>
          <a:bodyPr wrap="square" rtlCol="0" anchor="ct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1</a:t>
            </a:r>
            <a:endParaRPr lang="en-US" sz="1100" dirty="0"/>
          </a:p>
        </p:txBody>
      </p:sp>
      <p:sp>
        <p:nvSpPr>
          <p:cNvPr id="7" name="Text 5"/>
          <p:cNvSpPr/>
          <p:nvPr/>
        </p:nvSpPr>
        <p:spPr>
          <a:xfrm>
            <a:off x="1005840" y="868680"/>
            <a:ext cx="128016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deepresearch</a:t>
            </a:r>
            <a:endParaRPr lang="en-US" sz="1100" dirty="0"/>
          </a:p>
        </p:txBody>
      </p:sp>
      <p:sp>
        <p:nvSpPr>
          <p:cNvPr id="8" name="Text 6"/>
          <p:cNvSpPr/>
          <p:nvPr/>
        </p:nvSpPr>
        <p:spPr>
          <a:xfrm>
            <a:off x="1005840" y="1115568"/>
            <a:ext cx="1280160" cy="228600"/>
          </a:xfrm>
          <a:prstGeom prst="rect">
            <a:avLst/>
          </a:prstGeom>
          <a:noFill/>
          <a:ln/>
        </p:spPr>
        <p:txBody>
          <a:bodyPr wrap="square" rtlCol="0" anchor="ctr"/>
          <a:lstStyle/>
          <a:p>
            <a:pPr marL="0" indent="0" algn="l">
              <a:buNone/>
            </a:pPr>
            <a:r>
              <a:rPr lang="en-US" sz="900" dirty="0">
                <a:solidFill>
                  <a:srgbClr val="888888"/>
                </a:solidFill>
                <a:latin typeface="Microsoft YaHei" pitchFamily="34" charset="0"/>
                <a:ea typeface="Microsoft YaHei" pitchFamily="34" charset="-122"/>
                <a:cs typeface="Microsoft YaHei" pitchFamily="34" charset="-120"/>
              </a:rPr>
              <a:t>搞清背景</a:t>
            </a:r>
            <a:endParaRPr lang="en-US" sz="900" dirty="0"/>
          </a:p>
        </p:txBody>
      </p:sp>
      <p:sp>
        <p:nvSpPr>
          <p:cNvPr id="9" name="Text 7"/>
          <p:cNvSpPr/>
          <p:nvPr/>
        </p:nvSpPr>
        <p:spPr>
          <a:xfrm>
            <a:off x="2377440" y="822960"/>
            <a:ext cx="320040" cy="640080"/>
          </a:xfrm>
          <a:prstGeom prst="rect">
            <a:avLst/>
          </a:prstGeom>
          <a:noFill/>
          <a:ln/>
        </p:spPr>
        <p:txBody>
          <a:bodyPr wrap="square" rtlCol="0" anchor="ctr"/>
          <a:lstStyle/>
          <a:p>
            <a:pPr marL="0" indent="0" algn="ctr">
              <a:buNone/>
            </a:pPr>
            <a:r>
              <a:rPr lang="en-US" sz="1100" dirty="0">
                <a:solidFill>
                  <a:srgbClr val="999999"/>
                </a:solidFill>
              </a:rPr>
              <a:t>▶</a:t>
            </a:r>
            <a:endParaRPr lang="en-US" sz="1100" dirty="0"/>
          </a:p>
        </p:txBody>
      </p:sp>
      <p:sp>
        <p:nvSpPr>
          <p:cNvPr id="10" name="Shape 8"/>
          <p:cNvSpPr/>
          <p:nvPr/>
        </p:nvSpPr>
        <p:spPr>
          <a:xfrm>
            <a:off x="2697480" y="822960"/>
            <a:ext cx="1828800" cy="640080"/>
          </a:xfrm>
          <a:prstGeom prst="roundRect">
            <a:avLst>
              <a:gd name="adj" fmla="val 7143"/>
            </a:avLst>
          </a:prstGeom>
          <a:solidFill>
            <a:srgbClr val="F5F5F5"/>
          </a:solidFill>
          <a:ln/>
        </p:spPr>
        <p:txBody>
          <a:bodyPr/>
          <a:lstStyle/>
          <a:p>
            <a:endParaRPr lang="en-CN"/>
          </a:p>
        </p:txBody>
      </p:sp>
      <p:sp>
        <p:nvSpPr>
          <p:cNvPr id="11" name="Shape 9"/>
          <p:cNvSpPr/>
          <p:nvPr/>
        </p:nvSpPr>
        <p:spPr>
          <a:xfrm>
            <a:off x="2788920" y="896112"/>
            <a:ext cx="274320" cy="274320"/>
          </a:xfrm>
          <a:prstGeom prst="ellipse">
            <a:avLst/>
          </a:prstGeom>
          <a:solidFill>
            <a:srgbClr val="FF9900"/>
          </a:solidFill>
          <a:ln/>
        </p:spPr>
        <p:txBody>
          <a:bodyPr/>
          <a:lstStyle/>
          <a:p>
            <a:endParaRPr lang="en-CN"/>
          </a:p>
        </p:txBody>
      </p:sp>
      <p:sp>
        <p:nvSpPr>
          <p:cNvPr id="12" name="Text 10"/>
          <p:cNvSpPr/>
          <p:nvPr/>
        </p:nvSpPr>
        <p:spPr>
          <a:xfrm>
            <a:off x="2788920" y="896112"/>
            <a:ext cx="274320" cy="274320"/>
          </a:xfrm>
          <a:prstGeom prst="rect">
            <a:avLst/>
          </a:prstGeom>
          <a:noFill/>
          <a:ln/>
        </p:spPr>
        <p:txBody>
          <a:bodyPr wrap="square" rtlCol="0" anchor="ct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2</a:t>
            </a:r>
            <a:endParaRPr lang="en-US" sz="1100" dirty="0"/>
          </a:p>
        </p:txBody>
      </p:sp>
      <p:sp>
        <p:nvSpPr>
          <p:cNvPr id="13" name="Text 11"/>
          <p:cNvSpPr/>
          <p:nvPr/>
        </p:nvSpPr>
        <p:spPr>
          <a:xfrm>
            <a:off x="3154680" y="868680"/>
            <a:ext cx="128016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brainstorm</a:t>
            </a:r>
            <a:endParaRPr lang="en-US" sz="1100" dirty="0"/>
          </a:p>
        </p:txBody>
      </p:sp>
      <p:sp>
        <p:nvSpPr>
          <p:cNvPr id="14" name="Text 12"/>
          <p:cNvSpPr/>
          <p:nvPr/>
        </p:nvSpPr>
        <p:spPr>
          <a:xfrm>
            <a:off x="3154680" y="1115568"/>
            <a:ext cx="1280160" cy="228600"/>
          </a:xfrm>
          <a:prstGeom prst="rect">
            <a:avLst/>
          </a:prstGeom>
          <a:noFill/>
          <a:ln/>
        </p:spPr>
        <p:txBody>
          <a:bodyPr wrap="square" rtlCol="0" anchor="ctr"/>
          <a:lstStyle/>
          <a:p>
            <a:pPr marL="0" indent="0" algn="l">
              <a:buNone/>
            </a:pPr>
            <a:r>
              <a:rPr lang="en-US" sz="900" dirty="0">
                <a:solidFill>
                  <a:srgbClr val="888888"/>
                </a:solidFill>
                <a:latin typeface="Microsoft YaHei" pitchFamily="34" charset="0"/>
                <a:ea typeface="Microsoft YaHei" pitchFamily="34" charset="-122"/>
                <a:cs typeface="Microsoft YaHei" pitchFamily="34" charset="-120"/>
              </a:rPr>
              <a:t>做清决策</a:t>
            </a:r>
            <a:endParaRPr lang="en-US" sz="900" dirty="0"/>
          </a:p>
        </p:txBody>
      </p:sp>
      <p:sp>
        <p:nvSpPr>
          <p:cNvPr id="15" name="Text 13"/>
          <p:cNvSpPr/>
          <p:nvPr/>
        </p:nvSpPr>
        <p:spPr>
          <a:xfrm>
            <a:off x="4526280" y="822960"/>
            <a:ext cx="320040" cy="640080"/>
          </a:xfrm>
          <a:prstGeom prst="rect">
            <a:avLst/>
          </a:prstGeom>
          <a:noFill/>
          <a:ln/>
        </p:spPr>
        <p:txBody>
          <a:bodyPr wrap="square" rtlCol="0" anchor="ctr"/>
          <a:lstStyle/>
          <a:p>
            <a:pPr marL="0" indent="0" algn="ctr">
              <a:buNone/>
            </a:pPr>
            <a:r>
              <a:rPr lang="en-US" sz="1100" dirty="0">
                <a:solidFill>
                  <a:srgbClr val="999999"/>
                </a:solidFill>
              </a:rPr>
              <a:t>▶</a:t>
            </a:r>
            <a:endParaRPr lang="en-US" sz="1100" dirty="0"/>
          </a:p>
        </p:txBody>
      </p:sp>
      <p:sp>
        <p:nvSpPr>
          <p:cNvPr id="16" name="Shape 14"/>
          <p:cNvSpPr/>
          <p:nvPr/>
        </p:nvSpPr>
        <p:spPr>
          <a:xfrm>
            <a:off x="4846320" y="822960"/>
            <a:ext cx="1828800" cy="640080"/>
          </a:xfrm>
          <a:prstGeom prst="roundRect">
            <a:avLst>
              <a:gd name="adj" fmla="val 7143"/>
            </a:avLst>
          </a:prstGeom>
          <a:solidFill>
            <a:srgbClr val="F5F5F5"/>
          </a:solidFill>
          <a:ln/>
        </p:spPr>
        <p:txBody>
          <a:bodyPr/>
          <a:lstStyle/>
          <a:p>
            <a:endParaRPr lang="en-CN"/>
          </a:p>
        </p:txBody>
      </p:sp>
      <p:sp>
        <p:nvSpPr>
          <p:cNvPr id="17" name="Shape 15"/>
          <p:cNvSpPr/>
          <p:nvPr/>
        </p:nvSpPr>
        <p:spPr>
          <a:xfrm>
            <a:off x="4937760" y="896112"/>
            <a:ext cx="274320" cy="274320"/>
          </a:xfrm>
          <a:prstGeom prst="ellipse">
            <a:avLst/>
          </a:prstGeom>
          <a:solidFill>
            <a:srgbClr val="1A73E8"/>
          </a:solidFill>
          <a:ln/>
        </p:spPr>
        <p:txBody>
          <a:bodyPr/>
          <a:lstStyle/>
          <a:p>
            <a:endParaRPr lang="en-CN"/>
          </a:p>
        </p:txBody>
      </p:sp>
      <p:sp>
        <p:nvSpPr>
          <p:cNvPr id="18" name="Text 16"/>
          <p:cNvSpPr/>
          <p:nvPr/>
        </p:nvSpPr>
        <p:spPr>
          <a:xfrm>
            <a:off x="4937760" y="896112"/>
            <a:ext cx="274320" cy="274320"/>
          </a:xfrm>
          <a:prstGeom prst="rect">
            <a:avLst/>
          </a:prstGeom>
          <a:noFill/>
          <a:ln/>
        </p:spPr>
        <p:txBody>
          <a:bodyPr wrap="square" rtlCol="0" anchor="ct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3</a:t>
            </a:r>
            <a:endParaRPr lang="en-US" sz="1100" dirty="0"/>
          </a:p>
        </p:txBody>
      </p:sp>
      <p:sp>
        <p:nvSpPr>
          <p:cNvPr id="19" name="Text 17"/>
          <p:cNvSpPr/>
          <p:nvPr/>
        </p:nvSpPr>
        <p:spPr>
          <a:xfrm>
            <a:off x="5303520" y="868680"/>
            <a:ext cx="128016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plan</a:t>
            </a:r>
            <a:endParaRPr lang="en-US" sz="1100" dirty="0"/>
          </a:p>
        </p:txBody>
      </p:sp>
      <p:sp>
        <p:nvSpPr>
          <p:cNvPr id="20" name="Text 18"/>
          <p:cNvSpPr/>
          <p:nvPr/>
        </p:nvSpPr>
        <p:spPr>
          <a:xfrm>
            <a:off x="5303520" y="1115568"/>
            <a:ext cx="1280160" cy="228600"/>
          </a:xfrm>
          <a:prstGeom prst="rect">
            <a:avLst/>
          </a:prstGeom>
          <a:noFill/>
          <a:ln/>
        </p:spPr>
        <p:txBody>
          <a:bodyPr wrap="square" rtlCol="0" anchor="ctr"/>
          <a:lstStyle/>
          <a:p>
            <a:pPr marL="0" indent="0" algn="l">
              <a:buNone/>
            </a:pPr>
            <a:r>
              <a:rPr lang="en-US" sz="900" dirty="0">
                <a:solidFill>
                  <a:srgbClr val="888888"/>
                </a:solidFill>
                <a:latin typeface="Microsoft YaHei" pitchFamily="34" charset="0"/>
                <a:ea typeface="Microsoft YaHei" pitchFamily="34" charset="-122"/>
                <a:cs typeface="Microsoft YaHei" pitchFamily="34" charset="-120"/>
              </a:rPr>
              <a:t>排清顺序</a:t>
            </a:r>
            <a:endParaRPr lang="en-US" sz="900" dirty="0"/>
          </a:p>
        </p:txBody>
      </p:sp>
      <p:sp>
        <p:nvSpPr>
          <p:cNvPr id="21" name="Text 19"/>
          <p:cNvSpPr/>
          <p:nvPr/>
        </p:nvSpPr>
        <p:spPr>
          <a:xfrm>
            <a:off x="6675120" y="822960"/>
            <a:ext cx="320040" cy="640080"/>
          </a:xfrm>
          <a:prstGeom prst="rect">
            <a:avLst/>
          </a:prstGeom>
          <a:noFill/>
          <a:ln/>
        </p:spPr>
        <p:txBody>
          <a:bodyPr wrap="square" rtlCol="0" anchor="ctr"/>
          <a:lstStyle/>
          <a:p>
            <a:pPr marL="0" indent="0" algn="ctr">
              <a:buNone/>
            </a:pPr>
            <a:r>
              <a:rPr lang="en-US" sz="1100" dirty="0">
                <a:solidFill>
                  <a:srgbClr val="999999"/>
                </a:solidFill>
              </a:rPr>
              <a:t>▶</a:t>
            </a:r>
            <a:endParaRPr lang="en-US" sz="1100" dirty="0"/>
          </a:p>
        </p:txBody>
      </p:sp>
      <p:sp>
        <p:nvSpPr>
          <p:cNvPr id="22" name="Shape 20"/>
          <p:cNvSpPr/>
          <p:nvPr/>
        </p:nvSpPr>
        <p:spPr>
          <a:xfrm>
            <a:off x="6995160" y="822960"/>
            <a:ext cx="1828800" cy="640080"/>
          </a:xfrm>
          <a:prstGeom prst="roundRect">
            <a:avLst>
              <a:gd name="adj" fmla="val 7143"/>
            </a:avLst>
          </a:prstGeom>
          <a:solidFill>
            <a:srgbClr val="F5F5F5"/>
          </a:solidFill>
          <a:ln/>
        </p:spPr>
        <p:txBody>
          <a:bodyPr/>
          <a:lstStyle/>
          <a:p>
            <a:endParaRPr lang="en-CN"/>
          </a:p>
        </p:txBody>
      </p:sp>
      <p:sp>
        <p:nvSpPr>
          <p:cNvPr id="23" name="Shape 21"/>
          <p:cNvSpPr/>
          <p:nvPr/>
        </p:nvSpPr>
        <p:spPr>
          <a:xfrm>
            <a:off x="7086600" y="896112"/>
            <a:ext cx="274320" cy="274320"/>
          </a:xfrm>
          <a:prstGeom prst="ellipse">
            <a:avLst/>
          </a:prstGeom>
          <a:solidFill>
            <a:srgbClr val="34A853"/>
          </a:solidFill>
          <a:ln/>
        </p:spPr>
        <p:txBody>
          <a:bodyPr/>
          <a:lstStyle/>
          <a:p>
            <a:endParaRPr lang="en-CN"/>
          </a:p>
        </p:txBody>
      </p:sp>
      <p:sp>
        <p:nvSpPr>
          <p:cNvPr id="24" name="Text 22"/>
          <p:cNvSpPr/>
          <p:nvPr/>
        </p:nvSpPr>
        <p:spPr>
          <a:xfrm>
            <a:off x="7086600" y="896112"/>
            <a:ext cx="274320" cy="274320"/>
          </a:xfrm>
          <a:prstGeom prst="rect">
            <a:avLst/>
          </a:prstGeom>
          <a:noFill/>
          <a:ln/>
        </p:spPr>
        <p:txBody>
          <a:bodyPr wrap="square" rtlCol="0" anchor="ct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4</a:t>
            </a:r>
            <a:endParaRPr lang="en-US" sz="1100" dirty="0"/>
          </a:p>
        </p:txBody>
      </p:sp>
      <p:sp>
        <p:nvSpPr>
          <p:cNvPr id="25" name="Text 23"/>
          <p:cNvSpPr/>
          <p:nvPr/>
        </p:nvSpPr>
        <p:spPr>
          <a:xfrm>
            <a:off x="7452360" y="868680"/>
            <a:ext cx="1280160" cy="274320"/>
          </a:xfrm>
          <a:prstGeom prst="rect">
            <a:avLst/>
          </a:prstGeom>
          <a:noFill/>
          <a:ln/>
        </p:spPr>
        <p:txBody>
          <a:bodyPr wrap="square" rtlCol="0" anchor="ctr"/>
          <a:lstStyle/>
          <a:p>
            <a:pPr marL="0" indent="0" algn="l">
              <a:buNone/>
            </a:pPr>
            <a:r>
              <a:rPr lang="en-US" sz="1100" b="1" dirty="0">
                <a:solidFill>
                  <a:srgbClr val="232F3E"/>
                </a:solidFill>
                <a:latin typeface="Microsoft YaHei" pitchFamily="34" charset="0"/>
                <a:ea typeface="Microsoft YaHei" pitchFamily="34" charset="-122"/>
                <a:cs typeface="Microsoft YaHei" pitchFamily="34" charset="-120"/>
              </a:rPr>
              <a:t>execute</a:t>
            </a:r>
            <a:endParaRPr lang="en-US" sz="1100" dirty="0"/>
          </a:p>
        </p:txBody>
      </p:sp>
      <p:sp>
        <p:nvSpPr>
          <p:cNvPr id="26" name="Text 24"/>
          <p:cNvSpPr/>
          <p:nvPr/>
        </p:nvSpPr>
        <p:spPr>
          <a:xfrm>
            <a:off x="7452360" y="1115568"/>
            <a:ext cx="1280160" cy="228600"/>
          </a:xfrm>
          <a:prstGeom prst="rect">
            <a:avLst/>
          </a:prstGeom>
          <a:noFill/>
          <a:ln/>
        </p:spPr>
        <p:txBody>
          <a:bodyPr wrap="square" rtlCol="0" anchor="ctr"/>
          <a:lstStyle/>
          <a:p>
            <a:pPr marL="0" indent="0" algn="l">
              <a:buNone/>
            </a:pPr>
            <a:r>
              <a:rPr lang="en-US" sz="900" dirty="0">
                <a:solidFill>
                  <a:srgbClr val="888888"/>
                </a:solidFill>
                <a:latin typeface="Microsoft YaHei" pitchFamily="34" charset="0"/>
                <a:ea typeface="Microsoft YaHei" pitchFamily="34" charset="-122"/>
                <a:cs typeface="Microsoft YaHei" pitchFamily="34" charset="-120"/>
              </a:rPr>
              <a:t>做出来</a:t>
            </a:r>
            <a:endParaRPr lang="en-US" sz="900" dirty="0"/>
          </a:p>
        </p:txBody>
      </p:sp>
      <p:sp>
        <p:nvSpPr>
          <p:cNvPr id="27" name="Shape 25"/>
          <p:cNvSpPr/>
          <p:nvPr/>
        </p:nvSpPr>
        <p:spPr>
          <a:xfrm>
            <a:off x="731520" y="1691640"/>
            <a:ext cx="7680960" cy="1371600"/>
          </a:xfrm>
          <a:prstGeom prst="roundRect">
            <a:avLst>
              <a:gd name="adj" fmla="val 6667"/>
            </a:avLst>
          </a:prstGeom>
          <a:solidFill>
            <a:srgbClr val="FFF3E0"/>
          </a:solidFill>
          <a:ln w="25400">
            <a:solidFill>
              <a:srgbClr val="FF9900"/>
            </a:solidFill>
            <a:prstDash val="solid"/>
          </a:ln>
        </p:spPr>
        <p:txBody>
          <a:bodyPr/>
          <a:lstStyle/>
          <a:p>
            <a:endParaRPr lang="en-CN"/>
          </a:p>
        </p:txBody>
      </p:sp>
      <p:sp>
        <p:nvSpPr>
          <p:cNvPr id="28" name="Text 26"/>
          <p:cNvSpPr/>
          <p:nvPr/>
        </p:nvSpPr>
        <p:spPr>
          <a:xfrm>
            <a:off x="914400" y="1783080"/>
            <a:ext cx="3657600" cy="320040"/>
          </a:xfrm>
          <a:prstGeom prst="rect">
            <a:avLst/>
          </a:prstGeom>
          <a:noFill/>
          <a:ln/>
        </p:spPr>
        <p:txBody>
          <a:bodyPr wrap="square" rtlCol="0" anchor="ctr"/>
          <a:lstStyle/>
          <a:p>
            <a:pPr marL="0" indent="0" algn="l">
              <a:buNone/>
            </a:pPr>
            <a:r>
              <a:rPr lang="en-US" sz="1800" b="1" dirty="0">
                <a:solidFill>
                  <a:srgbClr val="232F3E"/>
                </a:solidFill>
                <a:latin typeface="Microsoft YaHei" pitchFamily="34" charset="0"/>
                <a:ea typeface="Microsoft YaHei" pitchFamily="34" charset="-122"/>
                <a:cs typeface="Microsoft YaHei" pitchFamily="34" charset="-120"/>
              </a:rPr>
              <a:t>🎯  核心价值</a:t>
            </a:r>
            <a:endParaRPr lang="en-US" sz="1800" dirty="0"/>
          </a:p>
        </p:txBody>
      </p:sp>
      <p:sp>
        <p:nvSpPr>
          <p:cNvPr id="29" name="Text 27"/>
          <p:cNvSpPr/>
          <p:nvPr/>
        </p:nvSpPr>
        <p:spPr>
          <a:xfrm>
            <a:off x="914400" y="2103120"/>
            <a:ext cx="7315200" cy="274320"/>
          </a:xfrm>
          <a:prstGeom prst="rect">
            <a:avLst/>
          </a:prstGeom>
          <a:noFill/>
          <a:ln/>
        </p:spPr>
        <p:txBody>
          <a:bodyPr wrap="square" rtlCol="0" anchor="ctr"/>
          <a:lstStyle/>
          <a:p>
            <a:pPr marL="0" indent="0" algn="l">
              <a:buNone/>
            </a:pPr>
            <a:r>
              <a:rPr lang="en-US" sz="1400" dirty="0">
                <a:solidFill>
                  <a:srgbClr val="232F3E"/>
                </a:solidFill>
                <a:latin typeface="Microsoft YaHei" pitchFamily="34" charset="0"/>
                <a:ea typeface="Microsoft YaHei" pitchFamily="34" charset="-122"/>
                <a:cs typeface="Microsoft YaHei" pitchFamily="34" charset="-120"/>
              </a:rPr>
              <a:t>每一个产品决策都有明确的来源。</a:t>
            </a:r>
            <a:endParaRPr lang="en-US" sz="1400" dirty="0"/>
          </a:p>
        </p:txBody>
      </p:sp>
      <p:sp>
        <p:nvSpPr>
          <p:cNvPr id="30" name="Text 28"/>
          <p:cNvSpPr/>
          <p:nvPr/>
        </p:nvSpPr>
        <p:spPr>
          <a:xfrm>
            <a:off x="914400" y="2377440"/>
            <a:ext cx="7315200" cy="594360"/>
          </a:xfrm>
          <a:prstGeom prst="rect">
            <a:avLst/>
          </a:prstGeom>
          <a:noFill/>
          <a:ln/>
        </p:spPr>
        <p:txBody>
          <a:bodyPr wrap="square" rtlCol="0" anchor="ctr"/>
          <a:lstStyle/>
          <a:p>
            <a:pPr marL="0" indent="0" algn="l">
              <a:lnSpc>
                <a:spcPct val="140000"/>
              </a:lnSpc>
              <a:buNone/>
            </a:pPr>
            <a:r>
              <a:rPr lang="en-US" sz="1100" dirty="0">
                <a:solidFill>
                  <a:srgbClr val="444444"/>
                </a:solidFill>
                <a:latin typeface="Microsoft YaHei" pitchFamily="34" charset="0"/>
                <a:ea typeface="Microsoft YaHei" pitchFamily="34" charset="-122"/>
                <a:cs typeface="Microsoft YaHei" pitchFamily="34" charset="-120"/>
              </a:rPr>
              <a:t>为什么选 CRUD 列表页作为 v1？因为你在 brainstorm 里选了 A。</a:t>
            </a:r>
            <a:endParaRPr lang="en-US" sz="1100" dirty="0"/>
          </a:p>
          <a:p>
            <a:pPr marL="0" indent="0" algn="l">
              <a:lnSpc>
                <a:spcPct val="140000"/>
              </a:lnSpc>
              <a:buNone/>
            </a:pPr>
            <a:r>
              <a:rPr lang="en-US" sz="1100" dirty="0">
                <a:solidFill>
                  <a:srgbClr val="444444"/>
                </a:solidFill>
                <a:latin typeface="Microsoft YaHei" pitchFamily="34" charset="0"/>
                <a:ea typeface="Microsoft YaHei" pitchFamily="34" charset="-122"/>
                <a:cs typeface="Microsoft YaHei" pitchFamily="34" charset="-120"/>
              </a:rPr>
              <a:t>为什么成功标准是 5 分钟？因为你在 brainstorm 里选了 A。</a:t>
            </a:r>
            <a:endParaRPr lang="en-US" sz="1100" dirty="0"/>
          </a:p>
          <a:p>
            <a:pPr marL="0" indent="0" algn="l">
              <a:lnSpc>
                <a:spcPct val="140000"/>
              </a:lnSpc>
              <a:buNone/>
            </a:pPr>
            <a:r>
              <a:rPr lang="en-US" sz="1100" dirty="0">
                <a:solidFill>
                  <a:srgbClr val="444444"/>
                </a:solidFill>
                <a:latin typeface="Microsoft YaHei" pitchFamily="34" charset="0"/>
                <a:ea typeface="Microsoft YaHei" pitchFamily="34" charset="-122"/>
                <a:cs typeface="Microsoft YaHei" pitchFamily="34" charset="-120"/>
              </a:rPr>
              <a:t>没有任何决策是 AI 自己发明的。</a:t>
            </a:r>
            <a:endParaRPr lang="en-US" sz="1100" dirty="0"/>
          </a:p>
        </p:txBody>
      </p:sp>
      <p:sp>
        <p:nvSpPr>
          <p:cNvPr id="31" name="Shape 29"/>
          <p:cNvSpPr/>
          <p:nvPr/>
        </p:nvSpPr>
        <p:spPr>
          <a:xfrm>
            <a:off x="731520" y="3291840"/>
            <a:ext cx="3657600" cy="1371600"/>
          </a:xfrm>
          <a:prstGeom prst="roundRect">
            <a:avLst>
              <a:gd name="adj" fmla="val 5333"/>
            </a:avLst>
          </a:prstGeom>
          <a:solidFill>
            <a:srgbClr val="E3F2FD"/>
          </a:solidFill>
          <a:ln w="12700">
            <a:solidFill>
              <a:srgbClr val="90CAF9"/>
            </a:solidFill>
            <a:prstDash val="solid"/>
          </a:ln>
        </p:spPr>
        <p:txBody>
          <a:bodyPr/>
          <a:lstStyle/>
          <a:p>
            <a:endParaRPr lang="en-CN"/>
          </a:p>
        </p:txBody>
      </p:sp>
      <p:sp>
        <p:nvSpPr>
          <p:cNvPr id="32" name="Text 30"/>
          <p:cNvSpPr/>
          <p:nvPr/>
        </p:nvSpPr>
        <p:spPr>
          <a:xfrm>
            <a:off x="868680" y="3383280"/>
            <a:ext cx="365760" cy="32004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3" name="Text 31"/>
          <p:cNvSpPr/>
          <p:nvPr/>
        </p:nvSpPr>
        <p:spPr>
          <a:xfrm>
            <a:off x="1280160" y="3383280"/>
            <a:ext cx="2926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完全可追溯</a:t>
            </a:r>
            <a:endParaRPr lang="en-US" sz="1400" dirty="0"/>
          </a:p>
        </p:txBody>
      </p:sp>
      <p:sp>
        <p:nvSpPr>
          <p:cNvPr id="34" name="Text 32"/>
          <p:cNvSpPr/>
          <p:nvPr/>
        </p:nvSpPr>
        <p:spPr>
          <a:xfrm>
            <a:off x="868680" y="3749040"/>
            <a:ext cx="3337560" cy="82296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当有人问"为什么这样设计"，你有完整的答案。每一条需求都能追溯到研究报告或你的某个回答。</a:t>
            </a:r>
            <a:endParaRPr lang="en-US" sz="1000" dirty="0"/>
          </a:p>
        </p:txBody>
      </p:sp>
      <p:sp>
        <p:nvSpPr>
          <p:cNvPr id="35" name="Shape 33"/>
          <p:cNvSpPr/>
          <p:nvPr/>
        </p:nvSpPr>
        <p:spPr>
          <a:xfrm>
            <a:off x="4754880" y="3291840"/>
            <a:ext cx="3657600" cy="1371600"/>
          </a:xfrm>
          <a:prstGeom prst="roundRect">
            <a:avLst>
              <a:gd name="adj" fmla="val 5333"/>
            </a:avLst>
          </a:prstGeom>
          <a:solidFill>
            <a:srgbClr val="E8F5E9"/>
          </a:solidFill>
          <a:ln w="12700">
            <a:solidFill>
              <a:srgbClr val="81C784"/>
            </a:solidFill>
            <a:prstDash val="solid"/>
          </a:ln>
        </p:spPr>
        <p:txBody>
          <a:bodyPr/>
          <a:lstStyle/>
          <a:p>
            <a:endParaRPr lang="en-CN"/>
          </a:p>
        </p:txBody>
      </p:sp>
      <p:sp>
        <p:nvSpPr>
          <p:cNvPr id="36" name="Text 34"/>
          <p:cNvSpPr/>
          <p:nvPr/>
        </p:nvSpPr>
        <p:spPr>
          <a:xfrm>
            <a:off x="4892040" y="3383280"/>
            <a:ext cx="365760" cy="32004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7" name="Text 35"/>
          <p:cNvSpPr/>
          <p:nvPr/>
        </p:nvSpPr>
        <p:spPr>
          <a:xfrm>
            <a:off x="5303520" y="3383280"/>
            <a:ext cx="2926080" cy="320040"/>
          </a:xfrm>
          <a:prstGeom prst="rect">
            <a:avLst/>
          </a:prstGeom>
          <a:noFill/>
          <a:ln/>
        </p:spPr>
        <p:txBody>
          <a:bodyPr wrap="square" rtlCol="0" anchor="ctr"/>
          <a:lstStyle/>
          <a:p>
            <a:pPr marL="0" indent="0" algn="l">
              <a:buNone/>
            </a:pPr>
            <a:r>
              <a:rPr lang="en-US" sz="1400" b="1" dirty="0">
                <a:solidFill>
                  <a:srgbClr val="232F3E"/>
                </a:solidFill>
                <a:latin typeface="Microsoft YaHei" pitchFamily="34" charset="0"/>
                <a:ea typeface="Microsoft YaHei" pitchFamily="34" charset="-122"/>
                <a:cs typeface="Microsoft YaHei" pitchFamily="34" charset="-120"/>
              </a:rPr>
              <a:t>适用范围广</a:t>
            </a:r>
            <a:endParaRPr lang="en-US" sz="1400" dirty="0"/>
          </a:p>
        </p:txBody>
      </p:sp>
      <p:sp>
        <p:nvSpPr>
          <p:cNvPr id="38" name="Text 36"/>
          <p:cNvSpPr/>
          <p:nvPr/>
        </p:nvSpPr>
        <p:spPr>
          <a:xfrm>
            <a:off x="4892040" y="3749040"/>
            <a:ext cx="3337560" cy="822960"/>
          </a:xfrm>
          <a:prstGeom prst="rect">
            <a:avLst/>
          </a:prstGeom>
          <a:noFill/>
          <a:ln/>
        </p:spPr>
        <p:txBody>
          <a:bodyPr wrap="square" rtlCol="0" anchor="t"/>
          <a:lstStyle/>
          <a:p>
            <a:pPr marL="0" indent="0" algn="l">
              <a:lnSpc>
                <a:spcPct val="130000"/>
              </a:lnSpc>
              <a:buNone/>
            </a:pPr>
            <a:r>
              <a:rPr lang="en-US" sz="1000" dirty="0">
                <a:solidFill>
                  <a:srgbClr val="444444"/>
                </a:solidFill>
                <a:latin typeface="Microsoft YaHei" pitchFamily="34" charset="0"/>
                <a:ea typeface="Microsoft YaHei" pitchFamily="34" charset="-122"/>
                <a:cs typeface="Microsoft YaHei" pitchFamily="34" charset="-120"/>
              </a:rPr>
              <a:t>这套方法论不只适用于做 Skill。它适用于任何你想用 AI 来构建的东西——功能、工具、系统。</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F9900"/>
          </a:solidFill>
          <a:ln/>
        </p:spPr>
        <p:txBody>
          <a:bodyPr/>
          <a:lstStyle/>
          <a:p>
            <a:endParaRPr lang="en-CN"/>
          </a:p>
        </p:txBody>
      </p:sp>
      <p:sp>
        <p:nvSpPr>
          <p:cNvPr id="3" name="Text 1"/>
          <p:cNvSpPr/>
          <p:nvPr/>
        </p:nvSpPr>
        <p:spPr>
          <a:xfrm>
            <a:off x="731520" y="1097280"/>
            <a:ext cx="7680960" cy="548640"/>
          </a:xfrm>
          <a:prstGeom prst="rect">
            <a:avLst/>
          </a:prstGeom>
          <a:noFill/>
          <a:ln/>
        </p:spPr>
        <p:txBody>
          <a:bodyPr wrap="square" rtlCol="0" anchor="ctr"/>
          <a:lstStyle/>
          <a:p>
            <a:pPr marL="0" indent="0" algn="ctr">
              <a:buNone/>
            </a:pPr>
            <a:r>
              <a:rPr lang="en-US" sz="2000" dirty="0">
                <a:solidFill>
                  <a:srgbClr val="8899AA"/>
                </a:solidFill>
                <a:latin typeface="Microsoft YaHei" pitchFamily="34" charset="0"/>
                <a:ea typeface="Microsoft YaHei" pitchFamily="34" charset="-122"/>
                <a:cs typeface="Microsoft YaHei" pitchFamily="34" charset="-120"/>
              </a:rPr>
              <a:t>这不是让 AI 帮你写一次代码</a:t>
            </a:r>
            <a:endParaRPr lang="en-US" sz="2000" dirty="0"/>
          </a:p>
        </p:txBody>
      </p:sp>
      <p:sp>
        <p:nvSpPr>
          <p:cNvPr id="4" name="Text 2"/>
          <p:cNvSpPr/>
          <p:nvPr/>
        </p:nvSpPr>
        <p:spPr>
          <a:xfrm>
            <a:off x="731520" y="1737360"/>
            <a:ext cx="7680960" cy="914400"/>
          </a:xfrm>
          <a:prstGeom prst="rect">
            <a:avLst/>
          </a:prstGeom>
          <a:noFill/>
          <a:ln/>
        </p:spPr>
        <p:txBody>
          <a:bodyPr wrap="square" rtlCol="0" anchor="ctr"/>
          <a:lstStyle/>
          <a:p>
            <a:pPr marL="0" indent="0" algn="ctr">
              <a:lnSpc>
                <a:spcPct val="130000"/>
              </a:lnSpc>
              <a:buNone/>
            </a:pPr>
            <a:r>
              <a:rPr lang="en-US" sz="2800" dirty="0">
                <a:solidFill>
                  <a:srgbClr val="FF9900"/>
                </a:solidFill>
                <a:latin typeface="Microsoft YaHei" pitchFamily="34" charset="0"/>
                <a:ea typeface="Microsoft YaHei" pitchFamily="34" charset="-122"/>
                <a:cs typeface="Microsoft YaHei" pitchFamily="34" charset="-120"/>
              </a:rPr>
              <a:t>这是让 AI 帮你构建一个</a:t>
            </a:r>
            <a:endParaRPr lang="en-US" sz="2800" dirty="0"/>
          </a:p>
          <a:p>
            <a:pPr marL="0" indent="0" algn="ctr">
              <a:lnSpc>
                <a:spcPct val="130000"/>
              </a:lnSpc>
              <a:buNone/>
            </a:pPr>
            <a:r>
              <a:rPr lang="en-US" sz="2800" dirty="0">
                <a:solidFill>
                  <a:srgbClr val="FF9900"/>
                </a:solidFill>
                <a:latin typeface="Microsoft YaHei" pitchFamily="34" charset="0"/>
                <a:ea typeface="Microsoft YaHei" pitchFamily="34" charset="-122"/>
                <a:cs typeface="Microsoft YaHei" pitchFamily="34" charset="-120"/>
              </a:rPr>
              <a:t>可以重复使用的专家系统</a:t>
            </a:r>
            <a:endParaRPr lang="en-US" sz="2800" dirty="0"/>
          </a:p>
        </p:txBody>
      </p:sp>
      <p:sp>
        <p:nvSpPr>
          <p:cNvPr id="5" name="Shape 3"/>
          <p:cNvSpPr/>
          <p:nvPr/>
        </p:nvSpPr>
        <p:spPr>
          <a:xfrm>
            <a:off x="3200400" y="2926080"/>
            <a:ext cx="2743200" cy="18288"/>
          </a:xfrm>
          <a:prstGeom prst="rect">
            <a:avLst/>
          </a:prstGeom>
          <a:solidFill>
            <a:srgbClr val="555555"/>
          </a:solidFill>
          <a:ln/>
        </p:spPr>
        <p:txBody>
          <a:bodyPr/>
          <a:lstStyle/>
          <a:p>
            <a:endParaRPr lang="en-CN"/>
          </a:p>
        </p:txBody>
      </p:sp>
      <p:sp>
        <p:nvSpPr>
          <p:cNvPr id="6" name="Text 4"/>
          <p:cNvSpPr/>
          <p:nvPr/>
        </p:nvSpPr>
        <p:spPr>
          <a:xfrm>
            <a:off x="731520" y="3200400"/>
            <a:ext cx="7680960" cy="640080"/>
          </a:xfrm>
          <a:prstGeom prst="rect">
            <a:avLst/>
          </a:prstGeom>
          <a:noFill/>
          <a:ln/>
        </p:spPr>
        <p:txBody>
          <a:bodyPr wrap="square" rtlCol="0" anchor="ctr"/>
          <a:lstStyle/>
          <a:p>
            <a:pPr marL="0" indent="0" algn="ctr">
              <a:lnSpc>
                <a:spcPct val="140000"/>
              </a:lnSpc>
              <a:buNone/>
            </a:pPr>
            <a:r>
              <a:rPr lang="en-US" sz="1400" dirty="0">
                <a:solidFill>
                  <a:srgbClr val="8899AA"/>
                </a:solidFill>
                <a:latin typeface="Microsoft YaHei" pitchFamily="34" charset="0"/>
                <a:ea typeface="Microsoft YaHei" pitchFamily="34" charset="-122"/>
                <a:cs typeface="Microsoft YaHei" pitchFamily="34" charset="-120"/>
              </a:rPr>
              <a:t>从一个模糊的想法，到一个可以重复使用的专家系统</a:t>
            </a:r>
            <a:endParaRPr lang="en-US" sz="1400" dirty="0"/>
          </a:p>
          <a:p>
            <a:pPr marL="0" indent="0" algn="ctr">
              <a:lnSpc>
                <a:spcPct val="140000"/>
              </a:lnSpc>
              <a:buNone/>
            </a:pPr>
            <a:r>
              <a:rPr lang="en-US" sz="1400" dirty="0">
                <a:solidFill>
                  <a:srgbClr val="8899AA"/>
                </a:solidFill>
                <a:latin typeface="Microsoft YaHei" pitchFamily="34" charset="0"/>
                <a:ea typeface="Microsoft YaHei" pitchFamily="34" charset="-122"/>
                <a:cs typeface="Microsoft YaHei" pitchFamily="34" charset="-120"/>
              </a:rPr>
              <a:t>我们走完了这整条路</a:t>
            </a:r>
            <a:endParaRPr lang="en-US" sz="1400" dirty="0"/>
          </a:p>
        </p:txBody>
      </p:sp>
      <p:sp>
        <p:nvSpPr>
          <p:cNvPr id="7" name="Text 5"/>
          <p:cNvSpPr/>
          <p:nvPr/>
        </p:nvSpPr>
        <p:spPr>
          <a:xfrm>
            <a:off x="731520" y="4114800"/>
            <a:ext cx="7680960" cy="548640"/>
          </a:xfrm>
          <a:prstGeom prst="rect">
            <a:avLst/>
          </a:prstGeom>
          <a:noFill/>
          <a:ln/>
        </p:spPr>
        <p:txBody>
          <a:bodyPr wrap="square" rtlCol="0" anchor="ctr"/>
          <a:lstStyle/>
          <a:p>
            <a:pPr marL="0" indent="0" algn="ctr">
              <a:buNone/>
            </a:pPr>
            <a:r>
              <a:rPr lang="en-US" sz="2400" dirty="0" err="1">
                <a:solidFill>
                  <a:srgbClr val="FFFFFF"/>
                </a:solidFill>
                <a:latin typeface="Microsoft YaHei" pitchFamily="34" charset="0"/>
                <a:ea typeface="Microsoft YaHei" pitchFamily="34" charset="-122"/>
                <a:cs typeface="Microsoft YaHei" pitchFamily="34" charset="-120"/>
              </a:rPr>
              <a:t>谢谢大家</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2243</Words>
  <Application>Microsoft Macintosh PowerPoint</Application>
  <PresentationFormat>On-screen Show (16:9)</PresentationFormat>
  <Paragraphs>295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Microsoft YaHei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Wang, Yi</cp:lastModifiedBy>
  <cp:revision>15</cp:revision>
  <dcterms:created xsi:type="dcterms:W3CDTF">2026-04-24T15:45:20Z</dcterms:created>
  <dcterms:modified xsi:type="dcterms:W3CDTF">2026-04-24T16:59:25Z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2026-04-24T15:49:49Z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156bead7-66f8-4477-a980-a51418702bf1</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